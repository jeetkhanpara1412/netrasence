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Merriweather" panose="00000500000000000000" pitchFamily="2" charset="0"/>
      <p:regular r:id="rId9"/>
      <p:bold r:id="rId10"/>
    </p:embeddedFont>
    <p:embeddedFont>
      <p:font typeface="Plus Jakarta Sans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3" Type="http://schemas.openxmlformats.org/officeDocument/2006/relationships/image" Target="../media/image2.png"/><Relationship Id="rId21" Type="http://schemas.openxmlformats.org/officeDocument/2006/relationships/image" Target="../media/image53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image" Target="../media/image1.png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19" Type="http://schemas.openxmlformats.org/officeDocument/2006/relationships/image" Target="../media/image51.png"/><Relationship Id="rId4" Type="http://schemas.openxmlformats.org/officeDocument/2006/relationships/image" Target="../media/image3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Relationship Id="rId22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2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image" Target="../media/image1.pn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3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" y="9525"/>
            <a:ext cx="1217295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25" y="6543675"/>
            <a:ext cx="12172950" cy="304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525" y="609600"/>
            <a:ext cx="12172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79085" y="157162"/>
            <a:ext cx="2922389" cy="3048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972817" y="1981200"/>
            <a:ext cx="4246364" cy="28575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90762" y="4876800"/>
            <a:ext cx="7610475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524000" y="3990975"/>
            <a:ext cx="2171700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848100" y="3990975"/>
            <a:ext cx="2171700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72200" y="3990975"/>
            <a:ext cx="2171700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96300" y="3990975"/>
            <a:ext cx="2171700" cy="695325"/>
          </a:xfrm>
          <a:prstGeom prst="roundRect">
            <a:avLst>
              <a:gd name="adj" fmla="val 10958"/>
            </a:avLst>
          </a:prstGeom>
          <a:solidFill>
            <a:srgbClr val="EFF6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90762" y="4876800"/>
            <a:ext cx="76104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195262"/>
            <a:ext cx="25717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1960" y="223837"/>
            <a:ext cx="17145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1985" y="223837"/>
            <a:ext cx="13335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0762" y="5024437"/>
            <a:ext cx="13335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862" y="5024437"/>
            <a:ext cx="133350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4287" y="5024437"/>
            <a:ext cx="133350" cy="1333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90525" y="6624637"/>
            <a:ext cx="33724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50159" y="6624637"/>
            <a:ext cx="234553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FFFFFF"/>
                </a:solidFill>
                <a:latin typeface="Plus Jakarta Sans"/>
              </a:rPr>
              <a:t>@SIH Idea submission- Template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34725" y="6624637"/>
            <a:ext cx="952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FFFFFF"/>
                </a:solidFill>
                <a:latin typeface="Plus Jakarta Sans"/>
              </a:rPr>
              <a:t>NetraSense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176212"/>
            <a:ext cx="137174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lus Jakarta Sans"/>
              </a:rPr>
              <a:t>netraSense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9635" y="241399"/>
            <a:ext cx="2722364" cy="1361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975" b="1" i="0" u="none">
                <a:solidFill>
                  <a:srgbClr val="1E293B"/>
                </a:solidFill>
                <a:latin typeface="Plus Jakarta Sans"/>
              </a:rPr>
              <a:t>SMART INDIA HACKATHON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0942" y="2047875"/>
            <a:ext cx="471264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3A8A"/>
                </a:solidFill>
                <a:latin typeface="Plus Jakarta Sans"/>
              </a:rPr>
              <a:t>SMART INDIA HACKATHON 2026 — IDEA SUBMISSION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718" y="2457450"/>
            <a:ext cx="10596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EA580C"/>
                </a:solidFill>
                <a:latin typeface="Plus Jakarta Sans"/>
              </a:rPr>
              <a:t>PROBLEM STATEMENT ID — 26038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804" y="2733675"/>
            <a:ext cx="1112639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sz="2250" b="1" i="0" u="none">
                <a:solidFill>
                  <a:srgbClr val="0F172A"/>
                </a:solidFill>
                <a:latin typeface="Merriweather"/>
              </a:rPr>
              <a:t>Explainable AI for Diabetic Retinopathy Screening in Rural India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718" y="3571875"/>
            <a:ext cx="105965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87" b="0" i="0" u="none">
                <a:solidFill>
                  <a:srgbClr val="475569"/>
                </a:solidFill>
                <a:latin typeface="Plus Jakarta Sans"/>
              </a:rPr>
              <a:t>Real-Time Quality Assurance, 5-Class Severity Staging &amp; Self-Validating Lesion Explainability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1131" y="4095750"/>
            <a:ext cx="2357437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64748B"/>
                </a:solidFill>
                <a:latin typeface="Plus Jakarta Sans"/>
              </a:rPr>
              <a:t>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1131" y="4257675"/>
            <a:ext cx="235743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2" b="1" i="0" u="none">
                <a:solidFill>
                  <a:srgbClr val="1E3A8A"/>
                </a:solidFill>
                <a:latin typeface="Plus Jakarta Sans"/>
              </a:rPr>
              <a:t>MedTech / BioTech / HealthTech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55231" y="4095750"/>
            <a:ext cx="2357437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64748B"/>
                </a:solidFill>
                <a:latin typeface="Plus Jakarta Sans"/>
              </a:rPr>
              <a:t>PS CATEGORY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55231" y="4257675"/>
            <a:ext cx="23574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12" b="1" i="0" u="none">
                <a:solidFill>
                  <a:srgbClr val="1E3A8A"/>
                </a:solidFill>
                <a:latin typeface="Plus Jakarta Sans"/>
              </a:rPr>
              <a:t>Software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79331" y="4095750"/>
            <a:ext cx="2357437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64748B"/>
                </a:solidFill>
                <a:latin typeface="Plus Jakarta Sans"/>
              </a:rPr>
              <a:t>TEAM 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79331" y="4257675"/>
            <a:ext cx="23574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12" b="1" i="0" u="none">
                <a:solidFill>
                  <a:srgbClr val="0F172A"/>
                </a:solidFill>
                <a:latin typeface="Plus Jakarta Sans"/>
              </a:rPr>
              <a:t>[ TEAM_ID_HERE 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431" y="4095750"/>
            <a:ext cx="2357437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E3A8A"/>
                </a:solidFill>
                <a:latin typeface="Plus Jakarta Sans"/>
              </a:rPr>
              <a:t>TEAM NAME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431" y="4257675"/>
            <a:ext cx="2357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E3A8A"/>
                </a:solidFill>
                <a:latin typeface="Plus Jakarta Sans"/>
              </a:rPr>
              <a:t>NetraSense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00312" y="5019675"/>
            <a:ext cx="32623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Plus Jakarta Sans"/>
              </a:rPr>
              <a:t>Offline Edge Inference (MATLAB Coder → ONNX)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86412" y="5019675"/>
            <a:ext cx="22264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Plus Jakarta Sans"/>
              </a:rPr>
              <a:t>&gt;90% Sens. | &gt;85% Spec. Target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43837" y="5019675"/>
            <a:ext cx="25717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Plus Jakarta Sans"/>
              </a:rPr>
              <a:t>Self-Validating Grad-CAM Heatmaps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" y="9525"/>
            <a:ext cx="1217295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25" y="6543675"/>
            <a:ext cx="12172950" cy="304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525" y="609600"/>
            <a:ext cx="12172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79085" y="157162"/>
            <a:ext cx="2922389" cy="3048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72325" y="1257300"/>
            <a:ext cx="4629150" cy="5191125"/>
          </a:xfrm>
          <a:prstGeom prst="roundRect">
            <a:avLst>
              <a:gd name="adj" fmla="val 1646"/>
            </a:avLst>
          </a:prstGeom>
          <a:solidFill>
            <a:srgbClr val="FAFAFA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90525" y="1257300"/>
            <a:ext cx="6629400" cy="1373088"/>
          </a:xfrm>
          <a:prstGeom prst="roundRect">
            <a:avLst>
              <a:gd name="adj" fmla="val 55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90525" y="2991445"/>
            <a:ext cx="6629400" cy="1722834"/>
          </a:xfrm>
          <a:prstGeom prst="roundRect">
            <a:avLst>
              <a:gd name="adj" fmla="val 44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0525" y="5075336"/>
            <a:ext cx="6629400" cy="1373088"/>
          </a:xfrm>
          <a:prstGeom prst="roundRect">
            <a:avLst>
              <a:gd name="adj" fmla="val 55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277100" y="1362075"/>
            <a:ext cx="4419600" cy="200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277100" y="6036171"/>
            <a:ext cx="4419600" cy="307478"/>
          </a:xfrm>
          <a:prstGeom prst="roundRect">
            <a:avLst>
              <a:gd name="adj" fmla="val 12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90525" y="2620863"/>
            <a:ext cx="6629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0525" y="1257300"/>
            <a:ext cx="6629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0525" y="1257300"/>
            <a:ext cx="38100" cy="137308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10400" y="1257300"/>
            <a:ext cx="9525" cy="1373088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90525" y="4704754"/>
            <a:ext cx="6629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90525" y="2991445"/>
            <a:ext cx="6629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90525" y="2991445"/>
            <a:ext cx="38100" cy="172283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10400" y="2991445"/>
            <a:ext cx="9525" cy="172283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90525" y="6438900"/>
            <a:ext cx="6629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90525" y="5075336"/>
            <a:ext cx="6629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90525" y="5075336"/>
            <a:ext cx="38100" cy="137308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010400" y="5075336"/>
            <a:ext cx="9525" cy="1373088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77100" y="1552575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915400" y="2356098"/>
            <a:ext cx="1143000" cy="219075"/>
          </a:xfrm>
          <a:prstGeom prst="roundRect">
            <a:avLst>
              <a:gd name="adj" fmla="val 21739"/>
            </a:avLst>
          </a:prstGeom>
          <a:solidFill>
            <a:srgbClr val="EFF6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77375" y="2594223"/>
            <a:ext cx="19050" cy="76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572500" y="2689473"/>
            <a:ext cx="1828800" cy="209550"/>
          </a:xfrm>
          <a:prstGeom prst="roundRect">
            <a:avLst>
              <a:gd name="adj" fmla="val 18181"/>
            </a:avLst>
          </a:prstGeom>
          <a:solidFill>
            <a:srgbClr val="FFF7ED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77375" y="4403973"/>
            <a:ext cx="19050" cy="571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582025" y="4480173"/>
            <a:ext cx="1809750" cy="19050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77375" y="4689723"/>
            <a:ext cx="19050" cy="381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753475" y="4746873"/>
            <a:ext cx="1466850" cy="1905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477375" y="4956423"/>
            <a:ext cx="1905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291512" y="5013573"/>
            <a:ext cx="2390775" cy="209550"/>
          </a:xfrm>
          <a:prstGeom prst="roundRect">
            <a:avLst>
              <a:gd name="adj" fmla="val 22727"/>
            </a:avLst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952482" y="2937123"/>
            <a:ext cx="704850" cy="123825"/>
          </a:xfrm>
          <a:prstGeom prst="roundRect">
            <a:avLst>
              <a:gd name="adj" fmla="val 23076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95382" y="3089523"/>
            <a:ext cx="19050" cy="76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359253" y="3194298"/>
            <a:ext cx="1891158" cy="342900"/>
          </a:xfrm>
          <a:prstGeom prst="roundRect">
            <a:avLst>
              <a:gd name="adj" fmla="val 13888"/>
            </a:avLst>
          </a:prstGeom>
          <a:solidFill>
            <a:srgbClr val="FEF2F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062269" y="2937123"/>
            <a:ext cx="904875" cy="123825"/>
          </a:xfrm>
          <a:prstGeom prst="roundRect">
            <a:avLst>
              <a:gd name="adj" fmla="val 2307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505182" y="3079998"/>
            <a:ext cx="19050" cy="571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380041" y="3156198"/>
            <a:ext cx="2269331" cy="180975"/>
          </a:xfrm>
          <a:prstGeom prst="roundRect">
            <a:avLst>
              <a:gd name="adj" fmla="val 21052"/>
            </a:avLst>
          </a:prstGeom>
          <a:solidFill>
            <a:srgbClr val="EFF6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505182" y="3356223"/>
            <a:ext cx="190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380041" y="3413373"/>
            <a:ext cx="2269331" cy="180975"/>
          </a:xfrm>
          <a:prstGeom prst="roundRect">
            <a:avLst>
              <a:gd name="adj" fmla="val 21052"/>
            </a:avLst>
          </a:prstGeom>
          <a:solidFill>
            <a:srgbClr val="EFF6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505182" y="3613398"/>
            <a:ext cx="190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380041" y="3670548"/>
            <a:ext cx="2269331" cy="180975"/>
          </a:xfrm>
          <a:prstGeom prst="roundRect">
            <a:avLst>
              <a:gd name="adj" fmla="val 21052"/>
            </a:avLst>
          </a:prstGeom>
          <a:solidFill>
            <a:srgbClr val="EFF6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0505182" y="3870573"/>
            <a:ext cx="190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380041" y="3927723"/>
            <a:ext cx="2269331" cy="180975"/>
          </a:xfrm>
          <a:prstGeom prst="roundRect">
            <a:avLst>
              <a:gd name="adj" fmla="val 21052"/>
            </a:avLst>
          </a:prstGeom>
          <a:solidFill>
            <a:srgbClr val="EFF6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505182" y="4127748"/>
            <a:ext cx="190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380041" y="4184898"/>
            <a:ext cx="2269331" cy="180975"/>
          </a:xfrm>
          <a:prstGeom prst="roundRect">
            <a:avLst>
              <a:gd name="adj" fmla="val 21052"/>
            </a:avLst>
          </a:prstGeom>
          <a:solidFill>
            <a:srgbClr val="FFF7ED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195262"/>
            <a:ext cx="257175" cy="2286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1960" y="223837"/>
            <a:ext cx="171450" cy="1714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1985" y="223837"/>
            <a:ext cx="133350" cy="1714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1362075"/>
            <a:ext cx="126801" cy="1238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3096220"/>
            <a:ext cx="126801" cy="12382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5180111"/>
            <a:ext cx="126801" cy="12382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2950" y="1381125"/>
            <a:ext cx="133350" cy="1143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8275" y="2422773"/>
            <a:ext cx="104775" cy="104775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96325" y="2746623"/>
            <a:ext cx="95250" cy="9525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2487" y="5070723"/>
            <a:ext cx="85725" cy="9525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-541734" y="695325"/>
            <a:ext cx="1327546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00000"/>
                </a:solidFill>
                <a:latin typeface="Merriweather"/>
              </a:rPr>
              <a:t>IDEA TITLE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-541734" y="1000125"/>
            <a:ext cx="132754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Proposed Solution (Describe your Idea / Solution / Prototype &amp; Innovation)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0525" y="6624637"/>
            <a:ext cx="35629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59684" y="6624637"/>
            <a:ext cx="234553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FFFFFF"/>
                </a:solidFill>
                <a:latin typeface="Plus Jakarta Sans"/>
              </a:rPr>
              <a:t>@SIH Idea submission- Template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34725" y="6624637"/>
            <a:ext cx="952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FFFFFF"/>
                </a:solidFill>
                <a:latin typeface="Plus Jakarta Sans"/>
              </a:rPr>
              <a:t>NetraSense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2950" y="176212"/>
            <a:ext cx="137174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lus Jakarta Sans"/>
              </a:rPr>
              <a:t>netraSense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69635" y="241399"/>
            <a:ext cx="2722364" cy="1361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975" b="1" i="0" u="none">
                <a:solidFill>
                  <a:srgbClr val="1E293B"/>
                </a:solidFill>
                <a:latin typeface="Plus Jakarta Sans"/>
              </a:rPr>
              <a:t>SMART INDIA HACKATHON 2026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53225" y="1362075"/>
            <a:ext cx="5467350" cy="1428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E3A8A"/>
                </a:solidFill>
                <a:latin typeface="Merriweather"/>
              </a:rPr>
              <a:t>CORE INNOVATION PIPELINE TREE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48750" y="2394198"/>
            <a:ext cx="971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E3A8A"/>
                </a:solidFill>
                <a:latin typeface="Plus Jakarta Sans"/>
              </a:rPr>
              <a:t>Retinal Image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2727573"/>
            <a:ext cx="16954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B45309"/>
                </a:solidFill>
                <a:latin typeface="Plus Jakarta Sans"/>
              </a:rPr>
              <a:t>Quality Check &amp; Enhancement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08206" y="4508748"/>
            <a:ext cx="195738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12" b="1" i="0" u="none">
                <a:solidFill>
                  <a:srgbClr val="B45309"/>
                </a:solidFill>
                <a:latin typeface="Plus Jakarta Sans"/>
              </a:rPr>
              <a:t>Confidence &amp; Uncertainty Check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22518" y="4775448"/>
            <a:ext cx="1528762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12" b="1" i="0" u="none">
                <a:solidFill>
                  <a:srgbClr val="1E3A8A"/>
                </a:solidFill>
                <a:latin typeface="Plus Jakarta Sans"/>
              </a:rPr>
              <a:t>Risk-Based Patient Triage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64115" y="5051673"/>
            <a:ext cx="2645568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15803D"/>
                </a:solidFill>
                <a:latin typeface="Plus Jakarta Sans"/>
              </a:rPr>
              <a:t>Ophthalmologist Review (&lt;30 seconds)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19900" y="6074271"/>
            <a:ext cx="5334000" cy="231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11"/>
              </a:lnSpc>
            </a:pPr>
            <a:r>
              <a:rPr sz="675" b="1" i="1" u="none">
                <a:solidFill>
                  <a:srgbClr val="475569"/>
                </a:solidFill>
                <a:latin typeface="Plus Jakarta Sans"/>
              </a:rPr>
              <a:t>Self-Aware Explainable AI:</a:t>
            </a:r>
            <a:r>
              <a:rPr sz="675" b="1" i="0" u="none">
                <a:solidFill>
                  <a:srgbClr val="475569"/>
                </a:solidFill>
                <a:latin typeface="Plus Jakarta Sans"/>
              </a:rPr>
              <a:t> The system doesn't just predict, it explains, self-checks, and knows when to defer to a human expert.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6401" y="1343025"/>
            <a:ext cx="162892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Merriweather"/>
              </a:rPr>
              <a:t>EXISTING PROBLEM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2925" y="1543050"/>
            <a:ext cx="6448425" cy="302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>
                <a:solidFill>
                  <a:srgbClr val="0F172A"/>
                </a:solidFill>
                <a:latin typeface="Plus Jakarta Sans"/>
              </a:rPr>
              <a:t>Severe Specialist Shortage:</a:t>
            </a:r>
            <a:r>
              <a:rPr sz="862" b="0" i="0" u="none">
                <a:solidFill>
                  <a:srgbClr val="334155"/>
                </a:solidFill>
                <a:latin typeface="Plus Jakarta Sans"/>
              </a:rPr>
              <a:t> &gt;80% of ophthalmologists practice in urban centers, leaving 70% of rural Indians without eye screening (~1 specialist per 100,000 rural population).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2925" y="1892796"/>
            <a:ext cx="6448425" cy="302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>
                <a:solidFill>
                  <a:srgbClr val="0F172A"/>
                </a:solidFill>
                <a:latin typeface="Plus Jakarta Sans"/>
              </a:rPr>
              <a:t>Poor &amp; Variable Image Quality:</a:t>
            </a:r>
            <a:r>
              <a:rPr sz="862" b="0" i="0" u="none">
                <a:solidFill>
                  <a:srgbClr val="334155"/>
                </a:solidFill>
                <a:latin typeface="Plus Jakarta Sans"/>
              </a:rPr>
              <a:t> Handheld fundus cameras operated by rural field workers suffer from severe blur, motion noise, and bad lighting.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2925" y="2242542"/>
            <a:ext cx="6448425" cy="302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>
                <a:solidFill>
                  <a:srgbClr val="0F172A"/>
                </a:solidFill>
                <a:latin typeface="Plus Jakarta Sans"/>
              </a:rPr>
              <a:t>Delayed Detection &amp; Scale of Crisis:</a:t>
            </a:r>
            <a:r>
              <a:rPr sz="862" b="0" i="0" u="none">
                <a:solidFill>
                  <a:srgbClr val="334155"/>
                </a:solidFill>
                <a:latin typeface="Plus Jakarta Sans"/>
              </a:rPr>
              <a:t> India has 77+ million diabetic adults (2nd highest globally; ~18% DR prevalence). DR is initially asymptomatic; early screening prevents 90% of vision loss.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6401" y="3077170"/>
            <a:ext cx="179914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3A8A"/>
                </a:solidFill>
                <a:latin typeface="Merriweather"/>
              </a:rPr>
              <a:t>PROPOSED SOLUTION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2925" y="3277195"/>
            <a:ext cx="6448425" cy="302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>
                <a:solidFill>
                  <a:srgbClr val="0F172A"/>
                </a:solidFill>
                <a:latin typeface="Plus Jakarta Sans"/>
              </a:rPr>
              <a:t>Real-Time Quality Check:</a:t>
            </a:r>
            <a:r>
              <a:rPr sz="862" b="0" i="0" u="none">
                <a:solidFill>
                  <a:srgbClr val="334155"/>
                </a:solidFill>
                <a:latin typeface="Plus Jakarta Sans"/>
              </a:rPr>
              <a:t> Instant AI feedback alerts operators to retake blurred images with specific corrective guidance ("move camera closer", "reduce glare") instead of a flat reject.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2925" y="3626941"/>
            <a:ext cx="6448425" cy="302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>
                <a:solidFill>
                  <a:srgbClr val="0F172A"/>
                </a:solidFill>
                <a:latin typeface="Plus Jakarta Sans"/>
              </a:rPr>
              <a:t>Automated Contrast Normalization:</a:t>
            </a:r>
            <a:r>
              <a:rPr sz="862" b="0" i="0" u="none">
                <a:solidFill>
                  <a:srgbClr val="334155"/>
                </a:solidFill>
                <a:latin typeface="Plus Jakarta Sans"/>
              </a:rPr>
              <a:t> Adaptive CLAHE preprocessing corrects uneven illumination and sharpens retinal microvasculature.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2925" y="3976687"/>
            <a:ext cx="6448425" cy="302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>
                <a:solidFill>
                  <a:srgbClr val="0F172A"/>
                </a:solidFill>
                <a:latin typeface="Plus Jakarta Sans"/>
              </a:rPr>
              <a:t>Multi-Class DR Severity Grading:</a:t>
            </a:r>
            <a:r>
              <a:rPr sz="862" b="0" i="0" u="none">
                <a:solidFill>
                  <a:srgbClr val="334155"/>
                </a:solidFill>
                <a:latin typeface="Plus Jakarta Sans"/>
              </a:rPr>
              <a:t> Deep CNN classifies scans into No DR, Mild, Moderate, Severe, or Proliferative DR (5-class ETDRS scale) in seconds.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2925" y="4326433"/>
            <a:ext cx="6448425" cy="302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>
                <a:solidFill>
                  <a:srgbClr val="0F172A"/>
                </a:solidFill>
                <a:latin typeface="Plus Jakarta Sans"/>
              </a:rPr>
              <a:t>Self-Aware Explainable AI (Grad-CAM):</a:t>
            </a:r>
            <a:r>
              <a:rPr sz="862" b="0" i="0" u="none">
                <a:solidFill>
                  <a:srgbClr val="334155"/>
                </a:solidFill>
                <a:latin typeface="Plus Jakarta Sans"/>
              </a:rPr>
              <a:t> Visual lesion overlays are cross-checked against actual detected-lesion maps before being trusted — the AI validates its own explanation.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6401" y="5161061"/>
            <a:ext cx="29408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A34A"/>
                </a:solidFill>
                <a:latin typeface="Merriweather"/>
              </a:rPr>
              <a:t>UNIQUE VALUE PROPOSITION (UVP)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2925" y="5361086"/>
            <a:ext cx="6448425" cy="302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>
                <a:solidFill>
                  <a:srgbClr val="0F172A"/>
                </a:solidFill>
                <a:latin typeface="Plus Jakarta Sans"/>
              </a:rPr>
              <a:t>Lightweight Offline Edge Architecture:</a:t>
            </a:r>
            <a:r>
              <a:rPr sz="862" b="0" i="0" u="none">
                <a:solidFill>
                  <a:srgbClr val="334155"/>
                </a:solidFill>
                <a:latin typeface="Plus Jakarta Sans"/>
              </a:rPr>
              <a:t> Runs locally on standard tablets/laptops (via MATLAB Coder/GPU Coder → ONNX) without persistent high-speed internet.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2925" y="5710832"/>
            <a:ext cx="6448425" cy="302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>
                <a:solidFill>
                  <a:srgbClr val="0F172A"/>
                </a:solidFill>
                <a:latin typeface="Plus Jakarta Sans"/>
              </a:rPr>
              <a:t>One-Click Patient Diagnostic Reports:</a:t>
            </a:r>
            <a:r>
              <a:rPr sz="862" b="0" i="0" u="none">
                <a:solidFill>
                  <a:srgbClr val="334155"/>
                </a:solidFill>
                <a:latin typeface="Plus Jakarta Sans"/>
              </a:rPr>
              <a:t> Auto-generates clear, multi-lingual PDF (+ optional regional audio) reports with Grad-CAM visual evidence for rapid referral.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2925" y="6060578"/>
            <a:ext cx="6448425" cy="302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>
                <a:solidFill>
                  <a:srgbClr val="0F172A"/>
                </a:solidFill>
                <a:latin typeface="Plus Jakarta Sans"/>
              </a:rPr>
              <a:t>Scalable Telemedicine Sync:</a:t>
            </a:r>
            <a:r>
              <a:rPr sz="862" b="0" i="0" u="none">
                <a:solidFill>
                  <a:srgbClr val="334155"/>
                </a:solidFill>
                <a:latin typeface="Plus Jakarta Sans"/>
              </a:rPr>
              <a:t> Encrypted backend API syncs patient EHRs seamlessly when connectivity becomes available.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09632" y="2946648"/>
            <a:ext cx="87630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1" i="0" u="none">
                <a:solidFill>
                  <a:srgbClr val="DC2626"/>
                </a:solidFill>
                <a:latin typeface="Plus Jakarta Sans"/>
              </a:rPr>
              <a:t>[Poor Quality]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80008" y="3241923"/>
            <a:ext cx="2249648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12" b="1" i="0" u="none">
                <a:solidFill>
                  <a:srgbClr val="B91C1C"/>
                </a:solidFill>
                <a:latin typeface="Plus Jakarta Sans"/>
              </a:rPr>
              <a:t>Recapture Guidance</a:t>
            </a:r>
            <a:r>
              <a:t>
</a:t>
            </a:r>
            <a:r>
              <a:rPr sz="637" b="0" i="0" u="none">
                <a:solidFill>
                  <a:srgbClr val="B91C1C"/>
                </a:solidFill>
                <a:latin typeface="Plus Jakarta Sans"/>
              </a:rPr>
              <a:t>(Real-time, on-device)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119419" y="2946648"/>
            <a:ext cx="107632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75" b="1" i="0" u="none">
                <a:solidFill>
                  <a:srgbClr val="16A34A"/>
                </a:solidFill>
                <a:latin typeface="Plus Jakarta Sans"/>
              </a:rPr>
              <a:t>[Good/Borderline]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53525" y="3184773"/>
            <a:ext cx="2722364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" b="1" i="0" u="none">
                <a:solidFill>
                  <a:srgbClr val="1E3A8A"/>
                </a:solidFill>
                <a:latin typeface="Plus Jakarta Sans"/>
              </a:rPr>
              <a:t>CLAHE + Illum. Norm. + Denoise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53525" y="3441948"/>
            <a:ext cx="2722364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" b="1" i="0" u="none">
                <a:solidFill>
                  <a:srgbClr val="1E3A8A"/>
                </a:solidFill>
                <a:latin typeface="Plus Jakarta Sans"/>
              </a:rPr>
              <a:t>DR Level 0-4 Prediction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53525" y="3699123"/>
            <a:ext cx="2722364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" b="1" i="0" u="none">
                <a:solidFill>
                  <a:srgbClr val="1E3A8A"/>
                </a:solidFill>
                <a:latin typeface="Plus Jakarta Sans"/>
              </a:rPr>
              <a:t>Lesion Detection (MA/HE/EX/NV)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53525" y="3956298"/>
            <a:ext cx="2722364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" b="1" i="0" u="none">
                <a:solidFill>
                  <a:srgbClr val="1E3A8A"/>
                </a:solidFill>
                <a:latin typeface="Plus Jakarta Sans"/>
              </a:rPr>
              <a:t>Grad-CAM + Lesion Evidence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53525" y="4213473"/>
            <a:ext cx="2722364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" b="1" i="0" u="none">
                <a:solidFill>
                  <a:srgbClr val="B45309"/>
                </a:solidFill>
                <a:latin typeface="Plus Jakarta Sans"/>
              </a:rPr>
              <a:t>AI Self-Validation (Check Overlap)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" y="9525"/>
            <a:ext cx="1217295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25" y="6543675"/>
            <a:ext cx="12172950" cy="304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525" y="609600"/>
            <a:ext cx="12172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79085" y="157162"/>
            <a:ext cx="2922389" cy="3048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90525" y="1257300"/>
            <a:ext cx="5424636" cy="409575"/>
          </a:xfrm>
          <a:prstGeom prst="roundRect">
            <a:avLst>
              <a:gd name="adj" fmla="val 18604"/>
            </a:avLst>
          </a:prstGeom>
          <a:solidFill>
            <a:srgbClr val="FEFCE8"/>
          </a:solidFill>
          <a:ln w="9525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8511" y="1257300"/>
            <a:ext cx="5852963" cy="409575"/>
          </a:xfrm>
          <a:prstGeom prst="roundRect">
            <a:avLst>
              <a:gd name="adj" fmla="val 1860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90525" y="1743075"/>
            <a:ext cx="8377237" cy="4705350"/>
          </a:xfrm>
          <a:prstGeom prst="roundRect">
            <a:avLst>
              <a:gd name="adj" fmla="val 161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82062" y="1743075"/>
            <a:ext cx="2919412" cy="4705350"/>
          </a:xfrm>
          <a:prstGeom prst="roundRect">
            <a:avLst>
              <a:gd name="adj" fmla="val 261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4350" y="3671887"/>
            <a:ext cx="8129587" cy="333375"/>
          </a:xfrm>
          <a:prstGeom prst="roundRect">
            <a:avLst>
              <a:gd name="adj" fmla="val 1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86837" y="1828800"/>
            <a:ext cx="2709862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86837" y="2392114"/>
            <a:ext cx="2709862" cy="361950"/>
          </a:xfrm>
          <a:prstGeom prst="roundRect">
            <a:avLst>
              <a:gd name="adj" fmla="val 13157"/>
            </a:avLst>
          </a:prstGeom>
          <a:solidFill>
            <a:srgbClr val="EFF6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86837" y="3594943"/>
            <a:ext cx="2709862" cy="361950"/>
          </a:xfrm>
          <a:prstGeom prst="roundRect">
            <a:avLst>
              <a:gd name="adj" fmla="val 13157"/>
            </a:avLst>
          </a:prstGeom>
          <a:solidFill>
            <a:srgbClr val="EFF6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986837" y="4797772"/>
            <a:ext cx="2709862" cy="361950"/>
          </a:xfrm>
          <a:prstGeom prst="roundRect">
            <a:avLst>
              <a:gd name="adj" fmla="val 13157"/>
            </a:avLst>
          </a:prstGeom>
          <a:solidFill>
            <a:srgbClr val="EFF6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86837" y="6000601"/>
            <a:ext cx="2709862" cy="361950"/>
          </a:xfrm>
          <a:prstGeom prst="roundRect">
            <a:avLst>
              <a:gd name="adj" fmla="val 13157"/>
            </a:avLst>
          </a:prstGeom>
          <a:solidFill>
            <a:srgbClr val="EFF6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424261" y="1323975"/>
            <a:ext cx="928687" cy="2762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429148" y="1323975"/>
            <a:ext cx="957262" cy="2762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462611" y="1323975"/>
            <a:ext cx="1209675" cy="2762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74218" y="1828800"/>
            <a:ext cx="2609850" cy="219075"/>
          </a:xfrm>
          <a:prstGeom prst="roundRect">
            <a:avLst>
              <a:gd name="adj" fmla="val 21739"/>
            </a:avLst>
          </a:prstGeom>
          <a:solidFill>
            <a:srgbClr val="EFF6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164431" y="2693193"/>
            <a:ext cx="2124075" cy="333375"/>
          </a:xfrm>
          <a:prstGeom prst="roundRect">
            <a:avLst>
              <a:gd name="adj" fmla="val 14285"/>
            </a:avLst>
          </a:prstGeom>
          <a:solidFill>
            <a:srgbClr val="FEF2F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574256" y="2745581"/>
            <a:ext cx="2543175" cy="2286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3181" y="2755106"/>
            <a:ext cx="1590675" cy="209550"/>
          </a:xfrm>
          <a:prstGeom prst="roundRect">
            <a:avLst>
              <a:gd name="adj" fmla="val 22727"/>
            </a:avLst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0075" y="3729037"/>
            <a:ext cx="1732508" cy="219075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504033" y="3729037"/>
            <a:ext cx="1903809" cy="219075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9292" y="3729037"/>
            <a:ext cx="1732508" cy="219075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83250" y="3729037"/>
            <a:ext cx="2075110" cy="219075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154906" y="4655343"/>
            <a:ext cx="1485900" cy="200025"/>
          </a:xfrm>
          <a:prstGeom prst="roundRect">
            <a:avLst>
              <a:gd name="adj" fmla="val 19047"/>
            </a:avLst>
          </a:prstGeom>
          <a:solidFill>
            <a:srgbClr val="FEF2F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926556" y="4650581"/>
            <a:ext cx="3381375" cy="209550"/>
          </a:xfrm>
          <a:prstGeom prst="roundRect">
            <a:avLst>
              <a:gd name="adj" fmla="val 22727"/>
            </a:avLst>
          </a:prstGeom>
          <a:solidFill>
            <a:srgbClr val="FFF7ED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593681" y="4655343"/>
            <a:ext cx="1409700" cy="200025"/>
          </a:xfrm>
          <a:prstGeom prst="roundRect">
            <a:avLst>
              <a:gd name="adj" fmla="val 19047"/>
            </a:avLst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850356" y="5505450"/>
            <a:ext cx="3457575" cy="209550"/>
          </a:xfrm>
          <a:prstGeom prst="roundRect">
            <a:avLst>
              <a:gd name="adj" fmla="val 22727"/>
            </a:avLst>
          </a:prstGeom>
          <a:solidFill>
            <a:srgbClr val="FFF7ED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14350" y="6018609"/>
            <a:ext cx="2659112" cy="342900"/>
          </a:xfrm>
          <a:prstGeom prst="roundRect">
            <a:avLst>
              <a:gd name="adj" fmla="val 13888"/>
            </a:avLst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249662" y="6018609"/>
            <a:ext cx="2659112" cy="342900"/>
          </a:xfrm>
          <a:prstGeom prst="roundRect">
            <a:avLst>
              <a:gd name="adj" fmla="val 13888"/>
            </a:avLst>
          </a:prstGeom>
          <a:solidFill>
            <a:srgbClr val="FFF7ED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984974" y="6018609"/>
            <a:ext cx="2659112" cy="342900"/>
          </a:xfrm>
          <a:prstGeom prst="roundRect">
            <a:avLst>
              <a:gd name="adj" fmla="val 13888"/>
            </a:avLst>
          </a:prstGeom>
          <a:solidFill>
            <a:srgbClr val="FEF2F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986837" y="1990725"/>
            <a:ext cx="270986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195262"/>
            <a:ext cx="257175" cy="2286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1960" y="223837"/>
            <a:ext cx="171450" cy="1714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1985" y="223837"/>
            <a:ext cx="133350" cy="1714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390650"/>
            <a:ext cx="142875" cy="1428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1043" y="2408634"/>
            <a:ext cx="76200" cy="952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1043" y="3387328"/>
            <a:ext cx="76200" cy="952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9733" y="3776662"/>
            <a:ext cx="57150" cy="1714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4992" y="3776662"/>
            <a:ext cx="57150" cy="1714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8950" y="3776662"/>
            <a:ext cx="57150" cy="1714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1043" y="4366021"/>
            <a:ext cx="76200" cy="952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1043" y="5220890"/>
            <a:ext cx="76200" cy="952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8431" y="3231653"/>
            <a:ext cx="66675" cy="8572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08431" y="4434482"/>
            <a:ext cx="66675" cy="8572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8431" y="5637311"/>
            <a:ext cx="66675" cy="8572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1386" y="1343025"/>
            <a:ext cx="114300" cy="10477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36143" y="1888331"/>
            <a:ext cx="104775" cy="100012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17131" y="2812256"/>
            <a:ext cx="95250" cy="9525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46456" y="2477839"/>
            <a:ext cx="76200" cy="90487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65506" y="3680668"/>
            <a:ext cx="95250" cy="90487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13131" y="4883497"/>
            <a:ext cx="95250" cy="90487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98856" y="6086326"/>
            <a:ext cx="104775" cy="90487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67581" y="6085284"/>
            <a:ext cx="95250" cy="9525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98118" y="6085284"/>
            <a:ext cx="95250" cy="9525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81055" y="6085284"/>
            <a:ext cx="85725" cy="9525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-541734" y="695325"/>
            <a:ext cx="1327546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00000"/>
                </a:solidFill>
                <a:latin typeface="Merriweather"/>
              </a:rPr>
              <a:t>TECHNICAL APPROACH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-541734" y="1000125"/>
            <a:ext cx="132754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Technologies to be used &amp; Methodology and process for implementation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0525" y="6624637"/>
            <a:ext cx="35629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59684" y="6624637"/>
            <a:ext cx="234553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FFFFFF"/>
                </a:solidFill>
                <a:latin typeface="Plus Jakarta Sans"/>
              </a:rPr>
              <a:t>@SIH Idea submission- Template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34725" y="6624637"/>
            <a:ext cx="952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FFFFFF"/>
                </a:solidFill>
                <a:latin typeface="Plus Jakarta Sans"/>
              </a:rPr>
              <a:t>NetraSense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2950" y="176212"/>
            <a:ext cx="137174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lus Jakarta Sans"/>
              </a:rPr>
              <a:t>netraSense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69635" y="241399"/>
            <a:ext cx="2722364" cy="1361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975" b="1" i="0" u="none">
                <a:solidFill>
                  <a:srgbClr val="1E293B"/>
                </a:solidFill>
                <a:latin typeface="Plus Jakarta Sans"/>
              </a:rPr>
              <a:t>SMART INDIA HACKATHON 2026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91386" y="1466850"/>
            <a:ext cx="610061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 i="0" u="none">
                <a:solidFill>
                  <a:srgbClr val="64748B"/>
                </a:solidFill>
                <a:latin typeface="Plus Jakarta Sans"/>
              </a:rPr>
              <a:t>MATLAB Toolboxes:</a:t>
            </a:r>
            <a:r>
              <a:rPr sz="712" b="0" i="0" u="none">
                <a:solidFill>
                  <a:srgbClr val="64748B"/>
                </a:solidFill>
                <a:latin typeface="Plus Jakarta Sans"/>
              </a:rPr>
              <a:t> Image Processing, Computer Vision, Deep Learning, Medical Imaging, Statistics &amp; Machine Learning, Simulink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57586" y="1352550"/>
            <a:ext cx="106203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1E3A8A"/>
                </a:solidFill>
                <a:latin typeface="Plus Jakarta Sans"/>
              </a:rPr>
              <a:t>BlurScore ≥ 12.0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62473" y="1352550"/>
            <a:ext cx="10906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1E3A8A"/>
                </a:solidFill>
                <a:latin typeface="Plus Jakarta Sans"/>
              </a:rPr>
              <a:t>FOVRatio ≥ 0.80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87601" y="1352550"/>
            <a:ext cx="135969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1E3A8A"/>
                </a:solidFill>
                <a:latin typeface="Plus Jakarta Sans"/>
              </a:rPr>
              <a:t>Mean Illum. ∈ [30, 80]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1386" y="1323975"/>
            <a:ext cx="1857375" cy="12382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F172A"/>
                </a:solidFill>
                <a:latin typeface="Plus Jakarta Sans"/>
              </a:rPr>
              <a:t>TECHNOLOGICAL STACK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53575" y="1328737"/>
            <a:ext cx="263128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E3A8A"/>
                </a:solidFill>
                <a:latin typeface="Plus Jakarta Sans"/>
              </a:rPr>
              <a:t>MATLAB, Python, OpenCV, Streamlit, NumPy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5121" y="2731293"/>
            <a:ext cx="250269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12" b="1" i="0" u="none">
                <a:solidFill>
                  <a:srgbClr val="B91C1C"/>
                </a:solidFill>
                <a:latin typeface="Plus Jakarta Sans"/>
              </a:rPr>
              <a:t>[Poor] → Recapture Guidance</a:t>
            </a:r>
            <a:r>
              <a:t>
</a:t>
            </a:r>
            <a:r>
              <a:rPr sz="637" b="1" i="0" u="none">
                <a:solidFill>
                  <a:srgbClr val="B91C1C"/>
                </a:solidFill>
                <a:latin typeface="Plus Jakarta Sans"/>
              </a:rPr>
              <a:t>(real-time, on-device) ⟲ Loops back to Acquisition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83756" y="2802731"/>
            <a:ext cx="381000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DC2626"/>
                </a:solidFill>
                <a:latin typeface="Plus Jakarta Sans"/>
              </a:rPr>
              <a:t>←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89709" y="2793206"/>
            <a:ext cx="2912268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B45309"/>
                </a:solidFill>
                <a:latin typeface="Plus Jakarta Sans"/>
              </a:rPr>
              <a:t>Local Quality Check (edge, offline-capable)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2681" y="2802731"/>
            <a:ext cx="381000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6A34A"/>
                </a:solidFill>
                <a:latin typeface="Plus Jakarta Sans"/>
              </a:rPr>
              <a:t>→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80546" y="2793206"/>
            <a:ext cx="1835943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12" b="1" i="0" u="none">
                <a:solidFill>
                  <a:srgbClr val="15803D"/>
                </a:solidFill>
                <a:latin typeface="Plus Jakarta Sans"/>
              </a:rPr>
              <a:t>[Good/Borderline] Passes Gate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3511" y="3729037"/>
            <a:ext cx="21656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75" b="1" i="0" u="none">
                <a:solidFill>
                  <a:srgbClr val="1E3A8A"/>
                </a:solidFill>
                <a:latin typeface="Plus Jakarta Sans"/>
              </a:rPr>
              <a:t>Enhancement (CLAHE / Denoise)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66057" y="3729037"/>
            <a:ext cx="237976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75" b="1" i="0" u="none">
                <a:solidFill>
                  <a:srgbClr val="1E3A8A"/>
                </a:solidFill>
                <a:latin typeface="Plus Jakarta Sans"/>
              </a:rPr>
              <a:t>Retinal Structure Segmentation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62729" y="3729037"/>
            <a:ext cx="21656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75" b="1" i="0" u="none">
                <a:solidFill>
                  <a:srgbClr val="1E3A8A"/>
                </a:solidFill>
                <a:latin typeface="Plus Jakarta Sans"/>
              </a:rPr>
              <a:t>DR Severity (5-Class ETDRS)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23861" y="3729037"/>
            <a:ext cx="259388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75" b="1" i="0" u="none">
                <a:solidFill>
                  <a:srgbClr val="1E3A8A"/>
                </a:solidFill>
                <a:latin typeface="Plus Jakarta Sans"/>
              </a:rPr>
              <a:t>Explainability (Grad-CAM + Lesions)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45368" y="4693443"/>
            <a:ext cx="17049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" b="1" i="0" u="none">
                <a:solidFill>
                  <a:srgbClr val="B91C1C"/>
                </a:solidFill>
                <a:latin typeface="Plus Jakarta Sans"/>
              </a:rPr>
              <a:t>[Mismatch] Flagged for Review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36056" y="4698206"/>
            <a:ext cx="381000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DC2626"/>
                </a:solidFill>
                <a:latin typeface="Plus Jakarta Sans"/>
              </a:rPr>
              <a:t>←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618184" y="4688681"/>
            <a:ext cx="3998118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12" b="1" i="0" u="none">
                <a:solidFill>
                  <a:srgbClr val="B45309"/>
                </a:solidFill>
                <a:latin typeface="Plus Jakarta Sans"/>
              </a:rPr>
              <a:t>AI Self-Validation Check (Does Grad-CAM overlap detected lesions?)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3181" y="4698206"/>
            <a:ext cx="381000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6A34A"/>
                </a:solidFill>
                <a:latin typeface="Plus Jakarta Sans"/>
              </a:rPr>
              <a:t>→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93668" y="4693443"/>
            <a:ext cx="16097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" b="1" i="0" u="none">
                <a:solidFill>
                  <a:srgbClr val="15803D"/>
                </a:solidFill>
                <a:latin typeface="Plus Jakarta Sans"/>
              </a:rPr>
              <a:t>[Validated] Proceed to Triage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70559" y="5543550"/>
            <a:ext cx="4017168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B45309"/>
                </a:solidFill>
                <a:latin typeface="Plus Jakarta Sans"/>
              </a:rPr>
              <a:t>Confidence &amp; Uncertainty Check (Calibrated Temperature Scaling)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48104" y="1828800"/>
            <a:ext cx="3387328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87" b="1" i="0" u="none">
                <a:solidFill>
                  <a:srgbClr val="1E3A8A"/>
                </a:solidFill>
                <a:latin typeface="Plus Jakarta Sans"/>
              </a:rPr>
              <a:t>CLINICAL &amp; SYSTEM TAIL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731448" y="2458789"/>
            <a:ext cx="3220640" cy="11430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ctr"/>
            <a:r>
              <a:rPr sz="712" b="1" i="0" u="none">
                <a:solidFill>
                  <a:srgbClr val="1E3A8A"/>
                </a:solidFill>
                <a:latin typeface="Plus Jakarta Sans"/>
              </a:rPr>
              <a:t>Ophthalmologist Review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731448" y="2582614"/>
            <a:ext cx="32206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37" b="0" i="0" u="none">
                <a:solidFill>
                  <a:srgbClr val="1E3A8A"/>
                </a:solidFill>
                <a:latin typeface="Plus Jakarta Sans"/>
              </a:rPr>
              <a:t>&lt;30s: Accept / Modify / Re-analyze / Refer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731448" y="3661618"/>
            <a:ext cx="3220640" cy="1143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ctr"/>
            <a:r>
              <a:rPr sz="712" b="1" i="0" u="none">
                <a:solidFill>
                  <a:srgbClr val="1E3A8A"/>
                </a:solidFill>
                <a:latin typeface="Plus Jakarta Sans"/>
              </a:rPr>
              <a:t>Comprehensive Report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731448" y="3785443"/>
            <a:ext cx="32206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37" b="0" i="0" u="none">
                <a:solidFill>
                  <a:srgbClr val="1E3A8A"/>
                </a:solidFill>
                <a:latin typeface="Plus Jakarta Sans"/>
              </a:rPr>
              <a:t>Doctor + Bilingual Patient PDF with Maps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31448" y="4864447"/>
            <a:ext cx="3220640" cy="1143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ctr"/>
            <a:r>
              <a:rPr sz="712" b="1" i="0" u="none">
                <a:solidFill>
                  <a:srgbClr val="1E3A8A"/>
                </a:solidFill>
                <a:latin typeface="Plus Jakarta Sans"/>
              </a:rPr>
              <a:t>Active Learning Loop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31448" y="4988272"/>
            <a:ext cx="32206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37" b="0" i="0" u="none">
                <a:solidFill>
                  <a:srgbClr val="1E3A8A"/>
                </a:solidFill>
                <a:latin typeface="Plus Jakarta Sans"/>
              </a:rPr>
              <a:t>Doctor Feedback Logged for Retraining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731448" y="6067276"/>
            <a:ext cx="3220640" cy="11430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ctr"/>
            <a:r>
              <a:rPr sz="712" b="1" i="0" u="none">
                <a:solidFill>
                  <a:srgbClr val="1E3A8A"/>
                </a:solidFill>
                <a:latin typeface="Plus Jakarta Sans"/>
              </a:rPr>
              <a:t>District Analytics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731448" y="6191101"/>
            <a:ext cx="32206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37" b="0" i="0" u="none">
                <a:solidFill>
                  <a:srgbClr val="1E3A8A"/>
                </a:solidFill>
                <a:latin typeface="Plus Jakarta Sans"/>
              </a:rPr>
              <a:t>Simulink Resource Optimization Model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2475" y="1343025"/>
            <a:ext cx="19050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78350F"/>
                </a:solidFill>
                <a:latin typeface="Plus Jakarta Sans"/>
              </a:rPr>
              <a:t>QUALITY GATE CRITERIA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52475" y="1466850"/>
            <a:ext cx="1905000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 i="0" u="none">
                <a:solidFill>
                  <a:srgbClr val="92400E"/>
                </a:solidFill>
                <a:latin typeface="Plus Jakarta Sans"/>
              </a:rPr>
              <a:t>Automated Edge Quality Thresholds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598068" y="1876425"/>
            <a:ext cx="2655093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E3A8A"/>
                </a:solidFill>
                <a:latin typeface="Plus Jakarta Sans"/>
              </a:rPr>
              <a:t>Image Acquisition (Field Worker / PWA App)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65304" y="6075759"/>
            <a:ext cx="3157202" cy="1143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15803D"/>
                </a:solidFill>
                <a:latin typeface="Plus Jakarta Sans"/>
              </a:rPr>
              <a:t>Confident Normal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65304" y="6199584"/>
            <a:ext cx="315720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37" b="0" i="0" u="none">
                <a:solidFill>
                  <a:srgbClr val="15803D"/>
                </a:solidFill>
                <a:latin typeface="Plus Jakarta Sans"/>
              </a:rPr>
              <a:t>Auto-Cleared (No doctor time spent)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000616" y="6075759"/>
            <a:ext cx="3157202" cy="1143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B45309"/>
                </a:solidFill>
                <a:latin typeface="Plus Jakarta Sans"/>
              </a:rPr>
              <a:t>Uncertain / Borderline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000616" y="6199584"/>
            <a:ext cx="315720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37" b="0" i="0" u="none">
                <a:solidFill>
                  <a:srgbClr val="B45309"/>
                </a:solidFill>
                <a:latin typeface="Plus Jakarta Sans"/>
              </a:rPr>
              <a:t>Priority Doctor Review Required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735928" y="6075759"/>
            <a:ext cx="3157202" cy="11430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B91C1C"/>
                </a:solidFill>
                <a:latin typeface="Plus Jakarta Sans"/>
              </a:rPr>
              <a:t>Confident Referable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735928" y="6199584"/>
            <a:ext cx="315720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37" b="0" i="0" u="none">
                <a:solidFill>
                  <a:srgbClr val="B91C1C"/>
                </a:solidFill>
                <a:latin typeface="Plus Jakarta Sans"/>
              </a:rPr>
              <a:t>Urgent Specialist Referral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" y="9525"/>
            <a:ext cx="1217295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25" y="6543675"/>
            <a:ext cx="12172950" cy="304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525" y="609600"/>
            <a:ext cx="12172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79085" y="157162"/>
            <a:ext cx="2922389" cy="3048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90525" y="6143625"/>
            <a:ext cx="11410950" cy="304800"/>
          </a:xfrm>
          <a:prstGeom prst="roundRect">
            <a:avLst>
              <a:gd name="adj" fmla="val 18750"/>
            </a:avLst>
          </a:prstGeom>
          <a:solidFill>
            <a:srgbClr val="1E3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90525" y="1257300"/>
            <a:ext cx="3727400" cy="4810125"/>
          </a:xfrm>
          <a:prstGeom prst="roundRect">
            <a:avLst>
              <a:gd name="adj" fmla="val 20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32225" y="1257300"/>
            <a:ext cx="3727400" cy="4810125"/>
          </a:xfrm>
          <a:prstGeom prst="roundRect">
            <a:avLst>
              <a:gd name="adj" fmla="val 20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73925" y="1257300"/>
            <a:ext cx="3727400" cy="4810125"/>
          </a:xfrm>
          <a:prstGeom prst="roundRect">
            <a:avLst>
              <a:gd name="adj" fmla="val 20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0525" y="6057900"/>
            <a:ext cx="3727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90525" y="1257300"/>
            <a:ext cx="3727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90525" y="1257300"/>
            <a:ext cx="28575" cy="481012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08400" y="1257300"/>
            <a:ext cx="9525" cy="48101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52450" y="5753100"/>
            <a:ext cx="3422600" cy="209550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32225" y="6057900"/>
            <a:ext cx="3727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32225" y="1257300"/>
            <a:ext cx="3727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32225" y="1257300"/>
            <a:ext cx="28575" cy="4810125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0100" y="1257300"/>
            <a:ext cx="9525" cy="48101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394150" y="5753100"/>
            <a:ext cx="3422600" cy="209550"/>
          </a:xfrm>
          <a:prstGeom prst="roundRect">
            <a:avLst>
              <a:gd name="adj" fmla="val 18181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73925" y="6057900"/>
            <a:ext cx="3727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73925" y="1257300"/>
            <a:ext cx="3727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73925" y="1257300"/>
            <a:ext cx="28575" cy="4810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791801" y="1257300"/>
            <a:ext cx="9525" cy="48101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35850" y="5753100"/>
            <a:ext cx="3422600" cy="209550"/>
          </a:xfrm>
          <a:prstGeom prst="roundRect">
            <a:avLst>
              <a:gd name="adj" fmla="val 18181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195262"/>
            <a:ext cx="257175" cy="2286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1960" y="223837"/>
            <a:ext cx="171450" cy="1714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1985" y="223837"/>
            <a:ext cx="133350" cy="1714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50" y="1381125"/>
            <a:ext cx="155376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4150" y="1381125"/>
            <a:ext cx="126801" cy="1238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5850" y="1381125"/>
            <a:ext cx="126801" cy="12382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-541734" y="695325"/>
            <a:ext cx="1327546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00000"/>
                </a:solidFill>
                <a:latin typeface="Merriweather"/>
              </a:rPr>
              <a:t>FEASIBILITY AND VIABILITY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-541734" y="1000125"/>
            <a:ext cx="132754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64748B"/>
                </a:solidFill>
                <a:latin typeface="Plus Jakarta Sans"/>
              </a:rPr>
              <a:t>Analysis of Feasibility, Potential Challenges &amp; Risks, and Strategies for Overcoming Them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0525" y="6624637"/>
            <a:ext cx="35629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9684" y="6624637"/>
            <a:ext cx="234553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FFFFFF"/>
                </a:solidFill>
                <a:latin typeface="Plus Jakarta Sans"/>
              </a:rPr>
              <a:t>@SIH Idea submission- Template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34725" y="6624637"/>
            <a:ext cx="952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FFFFFF"/>
                </a:solidFill>
                <a:latin typeface="Plus Jakarta Sans"/>
              </a:rPr>
              <a:t>NetraSense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176212"/>
            <a:ext cx="137174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lus Jakarta Sans"/>
              </a:rPr>
              <a:t>netraSense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9635" y="241399"/>
            <a:ext cx="2722364" cy="1361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975" b="1" i="0" u="none">
                <a:solidFill>
                  <a:srgbClr val="1E293B"/>
                </a:solidFill>
                <a:latin typeface="Plus Jakarta Sans"/>
              </a:rPr>
              <a:t>SMART INDIA HACKATHON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-422671" y="6219825"/>
            <a:ext cx="130373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37" b="1" i="0" u="none">
                <a:solidFill>
                  <a:srgbClr val="FFFFFF"/>
                </a:solidFill>
                <a:latin typeface="Plus Jakarta Sans"/>
              </a:rPr>
              <a:t>"BETTER SCREENING, EARLIER INTERVENTION, HEALTHIER VISION FOR RURAL INDIA"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650" y="5800725"/>
            <a:ext cx="33654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E3A8A"/>
                </a:solidFill>
                <a:latin typeface="Plus Jakarta Sans"/>
              </a:rPr>
              <a:t>Targeting &gt;90% Sens. &amp; &gt;85% Spec. for referable DR (Level 2+)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70350" y="5800725"/>
            <a:ext cx="33654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5803D"/>
                </a:solidFill>
                <a:latin typeface="Plus Jakarta Sans"/>
              </a:rPr>
              <a:t>Validated on IDRiD, APTOS 2019, DRIVE &amp; Messidor-2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2050" y="5800725"/>
            <a:ext cx="33654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C2410C"/>
                </a:solidFill>
                <a:latin typeface="Plus Jakarta Sans"/>
              </a:rPr>
              <a:t>Cross-dataset validation guards strictly against domain shift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4501" y="1362075"/>
            <a:ext cx="109835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1E3A8A"/>
                </a:solidFill>
                <a:latin typeface="Merriweather"/>
              </a:rPr>
              <a:t>FEASIBILITY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2450" y="1581150"/>
            <a:ext cx="3517850" cy="453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 dirty="0">
                <a:solidFill>
                  <a:srgbClr val="0F172A"/>
                </a:solidFill>
                <a:latin typeface="Plus Jakarta Sans"/>
              </a:rPr>
              <a:t>Technical Foundation:</a:t>
            </a:r>
            <a:r>
              <a:rPr sz="862" b="0" i="0" u="none" dirty="0">
                <a:solidFill>
                  <a:srgbClr val="334155"/>
                </a:solidFill>
                <a:latin typeface="Plus Jakarta Sans"/>
              </a:rPr>
              <a:t> Using MATLAB (Image Processing, Computer Vision, Deep Learning, Medical Imaging, Stats &amp; ML Toolboxes) to process images, train models, and detect DR.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2450" y="2081956"/>
            <a:ext cx="3517850" cy="604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 dirty="0">
                <a:solidFill>
                  <a:srgbClr val="0F172A"/>
                </a:solidFill>
                <a:latin typeface="Plus Jakarta Sans"/>
              </a:rPr>
              <a:t>Simulink Workflow Modeling:</a:t>
            </a:r>
            <a:r>
              <a:rPr sz="862" b="0" i="0" u="none" dirty="0">
                <a:solidFill>
                  <a:srgbClr val="334155"/>
                </a:solidFill>
                <a:latin typeface="Plus Jakarta Sans"/>
              </a:rPr>
              <a:t> Models end-to-end screening workflow — acquisition rate, bandwidth limits, processing throughput, and doctor review capacity to optimize district programs serving 100,000+ patients annually.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2450" y="2733823"/>
            <a:ext cx="3517850" cy="453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 dirty="0">
                <a:solidFill>
                  <a:srgbClr val="0F172A"/>
                </a:solidFill>
                <a:latin typeface="Plus Jakarta Sans"/>
              </a:rPr>
              <a:t>Interactive </a:t>
            </a:r>
            <a:r>
              <a:rPr sz="862" b="1" i="0" u="none" dirty="0" err="1">
                <a:solidFill>
                  <a:srgbClr val="0F172A"/>
                </a:solidFill>
                <a:latin typeface="Plus Jakarta Sans"/>
              </a:rPr>
              <a:t>Streamlit</a:t>
            </a:r>
            <a:r>
              <a:rPr sz="862" b="1" i="0" u="none" dirty="0">
                <a:solidFill>
                  <a:srgbClr val="0F172A"/>
                </a:solidFill>
                <a:latin typeface="Plus Jakarta Sans"/>
              </a:rPr>
              <a:t> UI:</a:t>
            </a:r>
            <a:r>
              <a:rPr sz="862" b="0" i="0" u="none" dirty="0">
                <a:solidFill>
                  <a:srgbClr val="334155"/>
                </a:solidFill>
                <a:latin typeface="Plus Jakarta Sans"/>
              </a:rPr>
              <a:t> Responsive portal for image upload, edge processing, and multi-lingual diagnostic visualization for community workers.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2450" y="3234630"/>
            <a:ext cx="3517850" cy="453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 dirty="0">
                <a:solidFill>
                  <a:srgbClr val="0F172A"/>
                </a:solidFill>
                <a:latin typeface="Plus Jakarta Sans"/>
              </a:rPr>
              <a:t>Innovation &amp; 3-Tier Triage:</a:t>
            </a:r>
            <a:r>
              <a:rPr sz="862" b="0" i="0" u="none" dirty="0">
                <a:solidFill>
                  <a:srgbClr val="334155"/>
                </a:solidFill>
                <a:latin typeface="Plus Jakarta Sans"/>
              </a:rPr>
              <a:t> Combines automated screening with self-aware Explainable AI; 3-tier uncertainty triage (auto-clear / priority review / urgent referral) saves scarce doctor hours.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2450" y="3735437"/>
            <a:ext cx="3517850" cy="302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 dirty="0">
                <a:solidFill>
                  <a:srgbClr val="0F172A"/>
                </a:solidFill>
                <a:latin typeface="Plus Jakarta Sans"/>
              </a:rPr>
              <a:t>Offline Edge Inference:</a:t>
            </a:r>
            <a:r>
              <a:rPr sz="862" b="0" i="0" u="none" dirty="0">
                <a:solidFill>
                  <a:srgbClr val="334155"/>
                </a:solidFill>
                <a:latin typeface="Plus Jakarta Sans"/>
              </a:rPr>
              <a:t> MATLAB GPU Coder/ONNX export eliminates rural connectivity barriers.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87626" y="1362075"/>
            <a:ext cx="94967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F766E"/>
                </a:solidFill>
                <a:latin typeface="Merriweather"/>
              </a:rPr>
              <a:t>VIABILITY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94150" y="1581150"/>
            <a:ext cx="3517850" cy="453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 dirty="0">
                <a:solidFill>
                  <a:srgbClr val="0F172A"/>
                </a:solidFill>
                <a:latin typeface="Plus Jakarta Sans"/>
              </a:rPr>
              <a:t>Market Necessity:</a:t>
            </a:r>
            <a:r>
              <a:rPr sz="862" b="0" i="0" u="none" dirty="0">
                <a:solidFill>
                  <a:srgbClr val="334155"/>
                </a:solidFill>
                <a:latin typeface="Plus Jakarta Sans"/>
              </a:rPr>
              <a:t> Critical need for accessible first checkups; rural India has only ~1 ophthalmologist per 100,000 population; empowers PHCs, vision camps, and community clinics.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94150" y="2081956"/>
            <a:ext cx="3517850" cy="453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 dirty="0">
                <a:solidFill>
                  <a:srgbClr val="0F172A"/>
                </a:solidFill>
                <a:latin typeface="Plus Jakarta Sans"/>
              </a:rPr>
              <a:t>Early Healthcare Impact:</a:t>
            </a:r>
            <a:r>
              <a:rPr sz="862" b="0" i="0" u="none" dirty="0">
                <a:solidFill>
                  <a:srgbClr val="334155"/>
                </a:solidFill>
                <a:latin typeface="Plus Jakarta Sans"/>
              </a:rPr>
              <a:t> Identifies diabetic eye disease before irreversible damage occurs, preventing preventable blindness at scale.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94150" y="2582763"/>
            <a:ext cx="3517850" cy="302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 dirty="0">
                <a:solidFill>
                  <a:srgbClr val="0F172A"/>
                </a:solidFill>
                <a:latin typeface="Plus Jakarta Sans"/>
              </a:rPr>
              <a:t>Specialist Reach Multiplier:</a:t>
            </a:r>
            <a:r>
              <a:rPr sz="862" b="0" i="0" u="none" dirty="0">
                <a:solidFill>
                  <a:srgbClr val="334155"/>
                </a:solidFill>
                <a:latin typeface="Plus Jakarta Sans"/>
              </a:rPr>
              <a:t> AI pre-triage removes normal scan load, allowing specialists to evaluate 3.5× more critical patients.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94150" y="2932509"/>
            <a:ext cx="3517850" cy="453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 dirty="0">
                <a:solidFill>
                  <a:srgbClr val="0F172A"/>
                </a:solidFill>
                <a:latin typeface="Plus Jakarta Sans"/>
              </a:rPr>
              <a:t>Continuous Active Learning:</a:t>
            </a:r>
            <a:r>
              <a:rPr sz="862" b="0" i="0" u="none" dirty="0">
                <a:solidFill>
                  <a:srgbClr val="334155"/>
                </a:solidFill>
                <a:latin typeface="Plus Jakarta Sans"/>
              </a:rPr>
              <a:t> Doctor feedback is logged and used for periodic model retraining, ensuring continuous improvement rather than staying frozen at launch accuracy.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29327" y="1362075"/>
            <a:ext cx="230869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EA580C"/>
                </a:solidFill>
                <a:latin typeface="Merriweather"/>
              </a:rPr>
              <a:t>CHALLENGES &amp; MITIGATION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35850" y="1581150"/>
            <a:ext cx="3517850" cy="302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 dirty="0">
                <a:solidFill>
                  <a:srgbClr val="0F172A"/>
                </a:solidFill>
                <a:latin typeface="Plus Jakarta Sans"/>
              </a:rPr>
              <a:t>Risk (Input Degradation):</a:t>
            </a:r>
            <a:r>
              <a:rPr sz="862" b="0" i="0" u="none" dirty="0">
                <a:solidFill>
                  <a:srgbClr val="334155"/>
                </a:solidFill>
                <a:latin typeface="Plus Jakarta Sans"/>
              </a:rPr>
              <a:t> Low-quality field retinal pictures lower model accuracy, risking incorrect clinical conclusions.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35850" y="1930896"/>
            <a:ext cx="3517850" cy="453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 dirty="0">
                <a:solidFill>
                  <a:srgbClr val="0F172A"/>
                </a:solidFill>
                <a:latin typeface="Plus Jakarta Sans"/>
              </a:rPr>
              <a:t>Mitigation (Quality Gate):</a:t>
            </a:r>
            <a:r>
              <a:rPr sz="862" b="0" i="0" u="none" dirty="0">
                <a:solidFill>
                  <a:srgbClr val="334155"/>
                </a:solidFill>
                <a:latin typeface="Plus Jakarta Sans"/>
              </a:rPr>
              <a:t> Real-time quality check (</a:t>
            </a:r>
            <a:r>
              <a:rPr sz="862" b="0" i="0" u="none" dirty="0" err="1">
                <a:solidFill>
                  <a:srgbClr val="334155"/>
                </a:solidFill>
                <a:latin typeface="Plus Jakarta Sans"/>
              </a:rPr>
              <a:t>BlurScore</a:t>
            </a:r>
            <a:r>
              <a:rPr sz="862" b="0" i="0" u="none" dirty="0">
                <a:solidFill>
                  <a:srgbClr val="334155"/>
                </a:solidFill>
                <a:latin typeface="Plus Jakarta Sans"/>
              </a:rPr>
              <a:t>, FOV) rejects unusable scans and guides operator recapture on-site.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35850" y="2431702"/>
            <a:ext cx="3517850" cy="302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 dirty="0">
                <a:solidFill>
                  <a:srgbClr val="0F172A"/>
                </a:solidFill>
                <a:latin typeface="Plus Jakarta Sans"/>
              </a:rPr>
              <a:t>Risk (Clinician Hesitation):</a:t>
            </a:r>
            <a:r>
              <a:rPr sz="862" b="0" i="0" u="none" dirty="0">
                <a:solidFill>
                  <a:srgbClr val="334155"/>
                </a:solidFill>
                <a:latin typeface="Plus Jakarta Sans"/>
              </a:rPr>
              <a:t> Doctors doubt black-box AI; overconfident errors pose clinical dangers.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35850" y="2781448"/>
            <a:ext cx="3517850" cy="453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sz="862" b="1" i="0" u="none" dirty="0">
                <a:solidFill>
                  <a:srgbClr val="0F172A"/>
                </a:solidFill>
                <a:latin typeface="Plus Jakarta Sans"/>
              </a:rPr>
              <a:t>Mitigation (Calibrated XAI):</a:t>
            </a:r>
            <a:r>
              <a:rPr sz="862" b="0" i="0" u="none" dirty="0">
                <a:solidFill>
                  <a:srgbClr val="334155"/>
                </a:solidFill>
                <a:latin typeface="Plus Jakarta Sans"/>
              </a:rPr>
              <a:t> Calibrated confidence (temperature scaling) cross-validated against lesion evidence; uncertain cases are never auto-cleared — they route to human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" y="9525"/>
            <a:ext cx="1217295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25" y="6543675"/>
            <a:ext cx="12172950" cy="304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525" y="609600"/>
            <a:ext cx="12172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79085" y="157162"/>
            <a:ext cx="2922389" cy="3048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59413" y="1257300"/>
            <a:ext cx="5542061" cy="3990975"/>
          </a:xfrm>
          <a:prstGeom prst="roundRect">
            <a:avLst>
              <a:gd name="adj" fmla="val 190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90525" y="1257300"/>
            <a:ext cx="5735538" cy="618232"/>
          </a:xfrm>
          <a:prstGeom prst="roundRect">
            <a:avLst>
              <a:gd name="adj" fmla="val 123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90525" y="2872382"/>
            <a:ext cx="5735538" cy="618232"/>
          </a:xfrm>
          <a:prstGeom prst="roundRect">
            <a:avLst>
              <a:gd name="adj" fmla="val 123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0525" y="4487465"/>
            <a:ext cx="5735538" cy="760660"/>
          </a:xfrm>
          <a:prstGeom prst="roundRect">
            <a:avLst>
              <a:gd name="adj" fmla="val 100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90525" y="5514975"/>
            <a:ext cx="3740199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25974" y="5514975"/>
            <a:ext cx="3740199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61424" y="5514975"/>
            <a:ext cx="3740199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0525" y="1866007"/>
            <a:ext cx="573553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0525" y="1257300"/>
            <a:ext cx="573553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90525" y="1257300"/>
            <a:ext cx="28575" cy="6182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16538" y="1257300"/>
            <a:ext cx="9525" cy="61823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90525" y="3481089"/>
            <a:ext cx="573553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90525" y="2872382"/>
            <a:ext cx="573553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0525" y="2872382"/>
            <a:ext cx="28575" cy="6182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16538" y="2872382"/>
            <a:ext cx="9525" cy="61823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90525" y="5238601"/>
            <a:ext cx="573553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90525" y="4487465"/>
            <a:ext cx="573553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90525" y="4487465"/>
            <a:ext cx="28575" cy="7606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16538" y="4487465"/>
            <a:ext cx="9525" cy="76066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90525" y="6438900"/>
            <a:ext cx="374019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90525" y="5514975"/>
            <a:ext cx="3740199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90525" y="5514975"/>
            <a:ext cx="9525" cy="9334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21199" y="5514975"/>
            <a:ext cx="9525" cy="9334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25974" y="6438900"/>
            <a:ext cx="374019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25974" y="5514975"/>
            <a:ext cx="3740199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25974" y="5514975"/>
            <a:ext cx="9525" cy="9334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56649" y="5514975"/>
            <a:ext cx="9525" cy="9334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61424" y="6438900"/>
            <a:ext cx="374019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61424" y="5514975"/>
            <a:ext cx="3740199" cy="285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61424" y="5514975"/>
            <a:ext cx="9525" cy="9334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1792098" y="5514975"/>
            <a:ext cx="9525" cy="9334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195262"/>
            <a:ext cx="257175" cy="2286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1960" y="223837"/>
            <a:ext cx="171450" cy="1714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1985" y="223837"/>
            <a:ext cx="133350" cy="1714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25" y="5343525"/>
            <a:ext cx="114300" cy="1143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371600"/>
            <a:ext cx="133350" cy="109537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986682"/>
            <a:ext cx="114300" cy="109537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601765"/>
            <a:ext cx="95250" cy="109537"/>
          </a:xfrm>
          <a:prstGeom prst="rect">
            <a:avLst/>
          </a:prstGeom>
        </p:spPr>
      </p:pic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829886"/>
              </p:ext>
            </p:extLst>
          </p:nvPr>
        </p:nvGraphicFramePr>
        <p:xfrm>
          <a:off x="6383238" y="1533525"/>
          <a:ext cx="5294410" cy="1485900"/>
        </p:xfrm>
        <a:graphic>
          <a:graphicData uri="http://schemas.openxmlformats.org/drawingml/2006/table">
            <a:tbl>
              <a:tblPr/>
              <a:tblGrid>
                <a:gridCol w="2617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3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271"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Conventional Screening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1E3A8A"/>
                          </a:solidFill>
                          <a:latin typeface="Plus Jakarta Sans"/>
                        </a:rPr>
                        <a:t>netraSense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Automated Image Quality Check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✅ Real-time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AI-Based DR Grading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✅ On-Device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5-Level Severity Classification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✅ ETDRS Scale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l"/>
                      <a:r>
                        <a:rPr sz="825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Grad-CAM Explainability (Self-Validated)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✅ Self-Checked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l"/>
                      <a:r>
                        <a:rPr sz="825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Confidence / Risk Assessment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✅ Calibrated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274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3-Tier Prioritized Referral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 i="0" u="none" dirty="0">
                          <a:solidFill>
                            <a:srgbClr val="16A34A"/>
                          </a:solidFill>
                          <a:latin typeface="Plus Jakarta Sans"/>
                        </a:rPr>
                        <a:t>✅ Automated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-541734" y="695325"/>
            <a:ext cx="1327546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 dirty="0">
                <a:solidFill>
                  <a:srgbClr val="000000"/>
                </a:solidFill>
                <a:latin typeface="Merriweather"/>
              </a:rPr>
              <a:t>IMPACT AND BENEFITS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-541734" y="1000125"/>
            <a:ext cx="132754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Potential Impact on the Target Audience &amp; Benefits of the Solution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0525" y="6624637"/>
            <a:ext cx="35629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FFFFFF"/>
                </a:solidFill>
                <a:latin typeface="Plus Jakarta Sans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59684" y="6624637"/>
            <a:ext cx="234553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FFFFFF"/>
                </a:solidFill>
                <a:latin typeface="Plus Jakarta Sans"/>
              </a:rPr>
              <a:t>@SIH Idea submission- Template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34725" y="6624637"/>
            <a:ext cx="952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FFFFFF"/>
                </a:solidFill>
                <a:latin typeface="Plus Jakarta Sans"/>
              </a:rPr>
              <a:t>NetraSense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2950" y="176212"/>
            <a:ext cx="137174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lus Jakarta Sans"/>
              </a:rPr>
              <a:t>netraSense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69635" y="241399"/>
            <a:ext cx="2722364" cy="1361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975" b="1" i="0" u="none">
                <a:solidFill>
                  <a:srgbClr val="1E293B"/>
                </a:solidFill>
                <a:latin typeface="Plus Jakarta Sans"/>
              </a:rPr>
              <a:t>SMART INDIA HACKATHON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0525" y="5324475"/>
            <a:ext cx="11801475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Merriweather"/>
              </a:rPr>
              <a:t>HOW netraSense WORKS? — THREE OPERATING MODES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95162" y="5057775"/>
            <a:ext cx="647056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75" b="0" i="0" u="none">
                <a:solidFill>
                  <a:srgbClr val="64748B"/>
                </a:solidFill>
                <a:latin typeface="Plus Jakarta Sans"/>
              </a:rPr>
              <a:t>Eliminates doctor burnout while keeping ophthalmologists in complete diagnostic control.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3400" y="1343025"/>
            <a:ext cx="6836047" cy="1428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862" b="1" i="0" u="none" dirty="0">
                <a:solidFill>
                  <a:srgbClr val="1E3A8A"/>
                </a:solidFill>
                <a:latin typeface="Plus Jakarta Sans"/>
              </a:rPr>
              <a:t>Improved Screening Access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3400" y="1504950"/>
            <a:ext cx="5564088" cy="2848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2"/>
              </a:lnSpc>
            </a:pPr>
            <a:r>
              <a:rPr sz="825" b="0" i="0" u="none" dirty="0">
                <a:solidFill>
                  <a:srgbClr val="334155"/>
                </a:solidFill>
                <a:latin typeface="Plus Jakarta Sans"/>
              </a:rPr>
              <a:t>AI-assisted retinal screening enables preliminary diabetic retinopathy assessment in areas with limited access to ophthalmologists, extending screening coverage to rural and underserved populations.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3400" y="2958107"/>
            <a:ext cx="6836047" cy="142875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862" b="1" i="0" u="none" dirty="0">
                <a:solidFill>
                  <a:srgbClr val="16A34A"/>
                </a:solidFill>
                <a:latin typeface="Plus Jakarta Sans"/>
              </a:rPr>
              <a:t>Earlier Detection &amp; Timely Referral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3400" y="3120032"/>
            <a:ext cx="5564088" cy="2848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2"/>
              </a:lnSpc>
            </a:pPr>
            <a:r>
              <a:rPr sz="825" b="0" i="0" u="none" dirty="0">
                <a:solidFill>
                  <a:srgbClr val="334155"/>
                </a:solidFill>
                <a:latin typeface="Plus Jakarta Sans"/>
              </a:rPr>
              <a:t>Automated DR grading with 3-tier triage helps identify abnormal and referable cases earlier, allowing high-risk patients to be prioritized for specialist evaluation before vision-threatening progression.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3400" y="4573190"/>
            <a:ext cx="6836047" cy="14287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/>
            <a:r>
              <a:rPr sz="862" b="1" i="0" u="none" dirty="0">
                <a:solidFill>
                  <a:srgbClr val="EA580C"/>
                </a:solidFill>
                <a:latin typeface="Plus Jakarta Sans"/>
              </a:rPr>
              <a:t>Reduced Clinical Workload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400" y="4735115"/>
            <a:ext cx="5564088" cy="427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2"/>
              </a:lnSpc>
            </a:pPr>
            <a:r>
              <a:rPr sz="825" b="0" i="0" u="none" dirty="0">
                <a:solidFill>
                  <a:srgbClr val="334155"/>
                </a:solidFill>
                <a:latin typeface="Plus Jakarta Sans"/>
              </a:rPr>
              <a:t>Quality-aware, self-validating AI screening filters unusable images, auto-clears confident-normal cases, provides DR severity predictions, and highlights relevant retinal regions, allowing ophthalmologists to focus their time on higher-risk and uncertain cases.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83238" y="1343025"/>
            <a:ext cx="580876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 dirty="0">
                <a:solidFill>
                  <a:srgbClr val="0F172A"/>
                </a:solidFill>
                <a:latin typeface="Merriweather"/>
              </a:rPr>
              <a:t>Diagnostic Screening Capability Benchmark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4825" y="5619750"/>
            <a:ext cx="4389499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B45309"/>
                </a:solidFill>
                <a:latin typeface="Plus Jakarta Sans"/>
              </a:rPr>
              <a:t>MODE 1: IMAGE QUALITY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4825" y="5762625"/>
            <a:ext cx="438949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334155"/>
                </a:solidFill>
                <a:latin typeface="Plus Jakarta Sans"/>
              </a:rPr>
              <a:t>For:</a:t>
            </a:r>
            <a:r>
              <a:rPr sz="750" b="0" i="0" u="none">
                <a:solidFill>
                  <a:srgbClr val="334155"/>
                </a:solidFill>
                <a:latin typeface="Plus Jakarta Sans"/>
              </a:rPr>
              <a:t> Retinal image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4825" y="5886450"/>
            <a:ext cx="360684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334155"/>
                </a:solidFill>
                <a:latin typeface="Plus Jakarta Sans"/>
              </a:rPr>
              <a:t>Process:</a:t>
            </a:r>
            <a:r>
              <a:rPr sz="750" b="0" i="0" u="none">
                <a:solidFill>
                  <a:srgbClr val="334155"/>
                </a:solidFill>
                <a:latin typeface="Plus Jakarta Sans"/>
              </a:rPr>
              <a:t> Image Input → Quality Check → Enhancement / Recapture Guidance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4825" y="6124575"/>
            <a:ext cx="438949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334155"/>
                </a:solidFill>
                <a:latin typeface="Plus Jakarta Sans"/>
              </a:rPr>
              <a:t>Output:</a:t>
            </a:r>
            <a:r>
              <a:rPr sz="750" b="0" i="0" u="none">
                <a:solidFill>
                  <a:srgbClr val="334155"/>
                </a:solidFill>
                <a:latin typeface="Plus Jakarta Sans"/>
              </a:rPr>
              <a:t> Usable image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4825" y="6248400"/>
            <a:ext cx="438949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 i="0" u="none">
                <a:solidFill>
                  <a:srgbClr val="B45309"/>
                </a:solidFill>
                <a:latin typeface="Plus Jakarta Sans"/>
              </a:rPr>
              <a:t>Best For: Preventing unreliable predictions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40274" y="5619750"/>
            <a:ext cx="4389499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E3A8A"/>
                </a:solidFill>
                <a:latin typeface="Plus Jakarta Sans"/>
              </a:rPr>
              <a:t>MODE 2: AI SCREENING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40274" y="5762625"/>
            <a:ext cx="438949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334155"/>
                </a:solidFill>
                <a:latin typeface="Plus Jakarta Sans"/>
              </a:rPr>
              <a:t>For:</a:t>
            </a:r>
            <a:r>
              <a:rPr sz="750" b="0" i="0" u="none">
                <a:solidFill>
                  <a:srgbClr val="334155"/>
                </a:solidFill>
                <a:latin typeface="Plus Jakarta Sans"/>
              </a:rPr>
              <a:t> Good-quality image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40274" y="5886450"/>
            <a:ext cx="438949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334155"/>
                </a:solidFill>
                <a:latin typeface="Plus Jakarta Sans"/>
              </a:rPr>
              <a:t>Process:</a:t>
            </a:r>
            <a:r>
              <a:rPr sz="750" b="0" i="0" u="none">
                <a:solidFill>
                  <a:srgbClr val="334155"/>
                </a:solidFill>
                <a:latin typeface="Plus Jakarta Sans"/>
              </a:rPr>
              <a:t> Preprocessing → Segmentation → CNN → DR Classification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40274" y="6010275"/>
            <a:ext cx="438949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334155"/>
                </a:solidFill>
                <a:latin typeface="Plus Jakarta Sans"/>
              </a:rPr>
              <a:t>Output:</a:t>
            </a:r>
            <a:r>
              <a:rPr sz="750" b="0" i="0" u="none">
                <a:solidFill>
                  <a:srgbClr val="334155"/>
                </a:solidFill>
                <a:latin typeface="Plus Jakarta Sans"/>
              </a:rPr>
              <a:t> Grade 0-4 + Calibrated Confidence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40274" y="6134100"/>
            <a:ext cx="438949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 i="0" u="none">
                <a:solidFill>
                  <a:srgbClr val="1E3A8A"/>
                </a:solidFill>
                <a:latin typeface="Plus Jakarta Sans"/>
              </a:rPr>
              <a:t>Best For: Automated DR severity assessment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75724" y="5619750"/>
            <a:ext cx="4016275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DC2626"/>
                </a:solidFill>
                <a:latin typeface="Plus Jakarta Sans"/>
              </a:rPr>
              <a:t>MODE 3: EXPLAINABLE REFERRAL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75724" y="5762625"/>
            <a:ext cx="401627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334155"/>
                </a:solidFill>
                <a:latin typeface="Plus Jakarta Sans"/>
              </a:rPr>
              <a:t>For:</a:t>
            </a:r>
            <a:r>
              <a:rPr sz="750" b="0" i="0" u="none">
                <a:solidFill>
                  <a:srgbClr val="334155"/>
                </a:solidFill>
                <a:latin typeface="Plus Jakarta Sans"/>
              </a:rPr>
              <a:t> Abnormal / high-risk / uncertain cases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75724" y="5886450"/>
            <a:ext cx="401627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334155"/>
                </a:solidFill>
                <a:latin typeface="Plus Jakarta Sans"/>
              </a:rPr>
              <a:t>Process:</a:t>
            </a:r>
            <a:r>
              <a:rPr sz="750" b="0" i="0" u="none">
                <a:solidFill>
                  <a:srgbClr val="334155"/>
                </a:solidFill>
                <a:latin typeface="Plus Jakarta Sans"/>
              </a:rPr>
              <a:t> Prediction → Grad-CAM → Self-Validation → 3-Tier Triage → Referral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75724" y="6010275"/>
            <a:ext cx="401627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334155"/>
                </a:solidFill>
                <a:latin typeface="Plus Jakarta Sans"/>
              </a:rPr>
              <a:t>Output:</a:t>
            </a:r>
            <a:r>
              <a:rPr sz="750" b="0" i="0" u="none">
                <a:solidFill>
                  <a:srgbClr val="334155"/>
                </a:solidFill>
                <a:latin typeface="Plus Jakarta Sans"/>
              </a:rPr>
              <a:t> Explainable, self-checked result + referral priority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75724" y="6134100"/>
            <a:ext cx="401627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 i="0" u="none">
                <a:solidFill>
                  <a:srgbClr val="DC2626"/>
                </a:solidFill>
                <a:latin typeface="Plus Jakarta Sans"/>
              </a:rPr>
              <a:t>Best For: Specialist evaluation of high-risk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" y="9525"/>
            <a:ext cx="1217295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25" y="6543675"/>
            <a:ext cx="12172950" cy="304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525" y="609600"/>
            <a:ext cx="12172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79085" y="157162"/>
            <a:ext cx="2922389" cy="3048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90525" y="6210300"/>
            <a:ext cx="11410950" cy="238125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90525" y="2844700"/>
            <a:ext cx="3727400" cy="955774"/>
          </a:xfrm>
          <a:prstGeom prst="roundRect">
            <a:avLst>
              <a:gd name="adj" fmla="val 79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232225" y="2844700"/>
            <a:ext cx="3727400" cy="955774"/>
          </a:xfrm>
          <a:prstGeom prst="roundRect">
            <a:avLst>
              <a:gd name="adj" fmla="val 79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73925" y="2844700"/>
            <a:ext cx="3727400" cy="955774"/>
          </a:xfrm>
          <a:prstGeom prst="roundRect">
            <a:avLst>
              <a:gd name="adj" fmla="val 79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90525" y="3895725"/>
            <a:ext cx="3727400" cy="955774"/>
          </a:xfrm>
          <a:prstGeom prst="roundRect">
            <a:avLst>
              <a:gd name="adj" fmla="val 79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32225" y="3895725"/>
            <a:ext cx="3727400" cy="955774"/>
          </a:xfrm>
          <a:prstGeom prst="roundRect">
            <a:avLst>
              <a:gd name="adj" fmla="val 79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73925" y="3895725"/>
            <a:ext cx="3727400" cy="955774"/>
          </a:xfrm>
          <a:prstGeom prst="roundRect">
            <a:avLst>
              <a:gd name="adj" fmla="val 79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390525" y="3790950"/>
            <a:ext cx="3727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0525" y="2844700"/>
            <a:ext cx="3727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90525" y="2844700"/>
            <a:ext cx="28575" cy="95577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08400" y="2844700"/>
            <a:ext cx="9525" cy="95577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32225" y="3790950"/>
            <a:ext cx="3727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32225" y="2844700"/>
            <a:ext cx="3727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32225" y="2844700"/>
            <a:ext cx="28575" cy="95577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50100" y="2844700"/>
            <a:ext cx="9525" cy="95577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73925" y="3790950"/>
            <a:ext cx="3727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73925" y="2844700"/>
            <a:ext cx="3727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73925" y="2844700"/>
            <a:ext cx="28575" cy="95577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791801" y="2844700"/>
            <a:ext cx="9525" cy="95577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90525" y="4841974"/>
            <a:ext cx="3727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90525" y="3895725"/>
            <a:ext cx="3727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90525" y="3895725"/>
            <a:ext cx="28575" cy="955774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08400" y="3895725"/>
            <a:ext cx="9525" cy="95577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32225" y="4841974"/>
            <a:ext cx="3727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32225" y="3895725"/>
            <a:ext cx="3727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32225" y="3895725"/>
            <a:ext cx="28575" cy="955774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50100" y="3895725"/>
            <a:ext cx="9525" cy="95577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73925" y="4841974"/>
            <a:ext cx="3727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73925" y="3895725"/>
            <a:ext cx="3727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73925" y="3895725"/>
            <a:ext cx="28575" cy="95577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1791801" y="3895725"/>
            <a:ext cx="9525" cy="95577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195262"/>
            <a:ext cx="257175" cy="2286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1960" y="223837"/>
            <a:ext cx="171450" cy="1714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1985" y="223837"/>
            <a:ext cx="133350" cy="1714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600450"/>
            <a:ext cx="114300" cy="90487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5100" y="3600450"/>
            <a:ext cx="114300" cy="90487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6800" y="3600450"/>
            <a:ext cx="114300" cy="90487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651474"/>
            <a:ext cx="114300" cy="90487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5100" y="4537174"/>
            <a:ext cx="114300" cy="90487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6800" y="4651474"/>
            <a:ext cx="114300" cy="90487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2949475"/>
            <a:ext cx="266700" cy="2667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75100" y="2949475"/>
            <a:ext cx="266700" cy="2667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6800" y="2949475"/>
            <a:ext cx="266700" cy="2667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" y="4000500"/>
            <a:ext cx="266700" cy="2667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75100" y="4000500"/>
            <a:ext cx="266700" cy="2667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16800" y="4000500"/>
            <a:ext cx="266700" cy="2667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4362" y="3020913"/>
            <a:ext cx="104775" cy="12382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60825" y="3020913"/>
            <a:ext cx="95250" cy="12382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73950" y="3020913"/>
            <a:ext cx="152400" cy="123825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0550" y="4071937"/>
            <a:ext cx="152400" cy="123825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56062" y="4071937"/>
            <a:ext cx="104775" cy="123825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88238" y="4071937"/>
            <a:ext cx="123825" cy="12382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-541734" y="695325"/>
            <a:ext cx="1327546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00000"/>
                </a:solidFill>
                <a:latin typeface="Merriweather"/>
              </a:rPr>
              <a:t>RESEARCH AND REFERENCES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-541734" y="1000125"/>
            <a:ext cx="132754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Details / Links of the Reference and Research Work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-517921" y="1257300"/>
            <a:ext cx="132278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475569"/>
                </a:solidFill>
                <a:latin typeface="Plus Jakarta Sans"/>
              </a:rPr>
              <a:t>Core Clinical Datasets, Diagnostic Benchmarks, and Methodological Foundations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0525" y="6624637"/>
            <a:ext cx="35629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FFFFFF"/>
                </a:solidFill>
                <a:latin typeface="Plus Jakarta Sans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59684" y="6624637"/>
            <a:ext cx="234553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FFFFFF"/>
                </a:solidFill>
                <a:latin typeface="Plus Jakarta Sans"/>
              </a:rPr>
              <a:t>@SIH Idea submission- Template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34725" y="6624637"/>
            <a:ext cx="952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FFFFFF"/>
                </a:solidFill>
                <a:latin typeface="Plus Jakarta Sans"/>
              </a:rPr>
              <a:t>NetraSense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2950" y="176212"/>
            <a:ext cx="137174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lus Jakarta Sans"/>
              </a:rPr>
              <a:t>netraSense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69635" y="241399"/>
            <a:ext cx="2722364" cy="1361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975" b="1" i="0" u="none">
                <a:solidFill>
                  <a:srgbClr val="1E293B"/>
                </a:solidFill>
                <a:latin typeface="Plus Jakarta Sans"/>
              </a:rPr>
              <a:t>SMART INDIA HACKATHON 2026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2925" y="6267450"/>
            <a:ext cx="7227093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334155"/>
                </a:solidFill>
                <a:latin typeface="Plus Jakarta Sans"/>
              </a:rPr>
              <a:t>All models validated across ethnically representative cohorts to ensure zero demographic bias in rural Indian populations.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87000" y="6267450"/>
            <a:ext cx="1702593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E3A8A"/>
                </a:solidFill>
                <a:latin typeface="Plus Jakarta Sans"/>
              </a:rPr>
              <a:t>Team NetraSense • SIH 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7281" y="3543300"/>
            <a:ext cx="4325875" cy="114300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712" b="1" i="0" u="none" dirty="0">
                <a:solidFill>
                  <a:srgbClr val="1E3A8A"/>
                </a:solidFill>
                <a:latin typeface="Plus Jakarta Sans"/>
              </a:rPr>
              <a:t>https://www.adcis.net/en/third-party/messidor2/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75100" y="3581400"/>
            <a:ext cx="4325875" cy="114300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712" b="1" i="0" u="none" dirty="0">
                <a:solidFill>
                  <a:srgbClr val="EA580C"/>
                </a:solidFill>
                <a:latin typeface="Plus Jakarta Sans"/>
              </a:rPr>
              <a:t>https://sih.gov.in/sih2026PS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16800" y="3581400"/>
            <a:ext cx="3975199" cy="114300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712" b="1" i="0" u="none" dirty="0">
                <a:solidFill>
                  <a:srgbClr val="16A34A"/>
                </a:solidFill>
                <a:latin typeface="Plus Jakarta Sans"/>
              </a:rPr>
              <a:t>https://drive.grand-challenge.org/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3400" y="4632424"/>
            <a:ext cx="4325875" cy="114300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712" b="1" i="0" u="none" dirty="0">
                <a:solidFill>
                  <a:srgbClr val="0284C7"/>
                </a:solidFill>
                <a:latin typeface="Plus Jakarta Sans"/>
              </a:rPr>
              <a:t>https://www.kaggle.com/c/aptos2019-blindness-detection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75100" y="4518124"/>
            <a:ext cx="3555950" cy="2286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712" b="1" i="0" u="none" dirty="0">
                <a:solidFill>
                  <a:srgbClr val="9333EA"/>
                </a:solidFill>
                <a:latin typeface="Plus Jakarta Sans"/>
              </a:rPr>
              <a:t>https://ieeedataport.org/open-access/indian-diabetic-retinopathy-image-dataset-idrid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16800" y="4632424"/>
            <a:ext cx="3975199" cy="114300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712" b="1" i="0" u="none" dirty="0">
                <a:solidFill>
                  <a:srgbClr val="D97706"/>
                </a:solidFill>
                <a:latin typeface="Plus Jakarta Sans"/>
              </a:rPr>
              <a:t>https://www.mathworks.com/help/deeplearning/ref/gradcam.html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3400" y="3254275"/>
            <a:ext cx="4325875" cy="134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sz="787" b="0" i="0" u="none" dirty="0">
                <a:solidFill>
                  <a:srgbClr val="475569"/>
                </a:solidFill>
                <a:latin typeface="Plus Jakarta Sans"/>
              </a:rPr>
              <a:t>Standardized retinal image database for diabetic retinopathy research.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75100" y="3254275"/>
            <a:ext cx="4325875" cy="134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sz="787" b="0" i="0" u="none" dirty="0">
                <a:solidFill>
                  <a:srgbClr val="475569"/>
                </a:solidFill>
                <a:latin typeface="Plus Jakarta Sans"/>
              </a:rPr>
              <a:t>Official Smart India Hackathon 2026 problem statements portal.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16800" y="3254275"/>
            <a:ext cx="3555950" cy="2699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sz="787" b="0" i="0" u="none" dirty="0">
                <a:solidFill>
                  <a:srgbClr val="475569"/>
                </a:solidFill>
                <a:latin typeface="Plus Jakarta Sans"/>
              </a:rPr>
              <a:t>Digital Retinal Images for Vessel Extraction, dataset for retinal vessel segmentation.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3400" y="4305300"/>
            <a:ext cx="4325875" cy="134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sz="787" b="0" i="0" u="none" dirty="0">
                <a:solidFill>
                  <a:srgbClr val="475569"/>
                </a:solidFill>
                <a:latin typeface="Plus Jakarta Sans"/>
              </a:rPr>
              <a:t>Kaggle competition dataset for diabetic retinopathy severity grading.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75100" y="4305300"/>
            <a:ext cx="4325875" cy="134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sz="787" b="0" i="0" u="none" dirty="0">
                <a:solidFill>
                  <a:srgbClr val="475569"/>
                </a:solidFill>
                <a:latin typeface="Plus Jakarta Sans"/>
              </a:rPr>
              <a:t>Indian dataset for research and disease grading.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16800" y="4305300"/>
            <a:ext cx="3555950" cy="2699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sz="787" b="0" i="0" u="none" dirty="0">
                <a:solidFill>
                  <a:srgbClr val="475569"/>
                </a:solidFill>
                <a:latin typeface="Plus Jakarta Sans"/>
              </a:rPr>
              <a:t>Visual explanations for CNN decisions using Gradient-weighted Class Activation Mapping.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6300" y="3011388"/>
            <a:ext cx="11620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0F172A"/>
                </a:solidFill>
                <a:latin typeface="Plus Jakarta Sans"/>
              </a:rPr>
              <a:t>1. MESSIDOR-2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18000" y="3011388"/>
            <a:ext cx="23693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0F172A"/>
                </a:solidFill>
                <a:latin typeface="Plus Jakarta Sans"/>
              </a:rPr>
              <a:t>2. SIH 2026 PROBLEM STATEMENT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59700" y="3011388"/>
            <a:ext cx="22383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0F172A"/>
                </a:solidFill>
                <a:latin typeface="Plus Jakarta Sans"/>
              </a:rPr>
              <a:t>3. DRIVE (VESSEL EXTRACTION)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6300" y="4062412"/>
            <a:ext cx="2714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0F172A"/>
                </a:solidFill>
                <a:latin typeface="Plus Jakarta Sans"/>
              </a:rPr>
              <a:t>4. APTOS 2019 BLINDNESS DETECTION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18000" y="4062412"/>
            <a:ext cx="20835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0F172A"/>
                </a:solidFill>
                <a:latin typeface="Plus Jakarta Sans"/>
              </a:rPr>
              <a:t>5. </a:t>
            </a:r>
            <a:r>
              <a:rPr sz="900" b="1" i="0" u="none" dirty="0" err="1">
                <a:solidFill>
                  <a:srgbClr val="0F172A"/>
                </a:solidFill>
                <a:latin typeface="Plus Jakarta Sans"/>
              </a:rPr>
              <a:t>IDRiD</a:t>
            </a:r>
            <a:r>
              <a:rPr sz="900" b="1" i="0" u="none" dirty="0">
                <a:solidFill>
                  <a:srgbClr val="0F172A"/>
                </a:solidFill>
                <a:latin typeface="Plus Jakarta Sans"/>
              </a:rPr>
              <a:t> (INDIAN DR DATASET)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59700" y="4062412"/>
            <a:ext cx="26193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0F172A"/>
                </a:solidFill>
                <a:latin typeface="Plus Jakarta Sans"/>
              </a:rPr>
              <a:t>6. GRAD-CAM (MATHWORKS DOCS)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" y="9525"/>
            <a:ext cx="1217295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25" y="6543675"/>
            <a:ext cx="12172950" cy="304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525" y="609600"/>
            <a:ext cx="12172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79085" y="157162"/>
            <a:ext cx="2922389" cy="3048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2425" y="1152525"/>
            <a:ext cx="8697515" cy="5334000"/>
          </a:xfrm>
          <a:prstGeom prst="roundRect">
            <a:avLst>
              <a:gd name="adj" fmla="val 1428"/>
            </a:avLst>
          </a:prstGeom>
          <a:solidFill>
            <a:srgbClr val="FCFDFE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95300" y="3714750"/>
            <a:ext cx="8411765" cy="45720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83290" y="1152525"/>
            <a:ext cx="2656284" cy="41910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83290" y="2072580"/>
            <a:ext cx="2656284" cy="541734"/>
          </a:xfrm>
          <a:prstGeom prst="roundRect">
            <a:avLst>
              <a:gd name="adj" fmla="val 1406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83290" y="3115270"/>
            <a:ext cx="2656284" cy="541734"/>
          </a:xfrm>
          <a:prstGeom prst="roundRect">
            <a:avLst>
              <a:gd name="adj" fmla="val 1406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83290" y="4157960"/>
            <a:ext cx="2656284" cy="541734"/>
          </a:xfrm>
          <a:prstGeom prst="roundRect">
            <a:avLst>
              <a:gd name="adj" fmla="val 1406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83290" y="5200650"/>
            <a:ext cx="2656284" cy="536971"/>
          </a:xfrm>
          <a:prstGeom prst="roundRect">
            <a:avLst>
              <a:gd name="adj" fmla="val 141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83290" y="6238577"/>
            <a:ext cx="2656284" cy="247650"/>
          </a:xfrm>
          <a:prstGeom prst="roundRect">
            <a:avLst>
              <a:gd name="adj" fmla="val 19230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472332" y="1257300"/>
            <a:ext cx="4457700" cy="276225"/>
          </a:xfrm>
          <a:prstGeom prst="roundRect">
            <a:avLst>
              <a:gd name="adj" fmla="val 20689"/>
            </a:avLst>
          </a:prstGeom>
          <a:solidFill>
            <a:srgbClr val="EFF6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91657" y="1796653"/>
            <a:ext cx="19050" cy="952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896195" y="2155031"/>
            <a:ext cx="3609975" cy="238125"/>
          </a:xfrm>
          <a:prstGeom prst="roundRect">
            <a:avLst>
              <a:gd name="adj" fmla="val 24000"/>
            </a:avLst>
          </a:prstGeom>
          <a:solidFill>
            <a:srgbClr val="FFF7ED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91657" y="3375421"/>
            <a:ext cx="19050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00075" y="3781425"/>
            <a:ext cx="1789211" cy="323850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627411" y="3781425"/>
            <a:ext cx="1954708" cy="323850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820245" y="3781425"/>
            <a:ext cx="1789211" cy="323850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847582" y="3781425"/>
            <a:ext cx="1954708" cy="323850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91657" y="4435078"/>
            <a:ext cx="19050" cy="76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09153" y="4788693"/>
            <a:ext cx="1964233" cy="209550"/>
          </a:xfrm>
          <a:prstGeom prst="roundRect">
            <a:avLst>
              <a:gd name="adj" fmla="val 22727"/>
            </a:avLst>
          </a:prstGeom>
          <a:solidFill>
            <a:srgbClr val="FEF2F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868662" y="4774406"/>
            <a:ext cx="3848100" cy="238125"/>
          </a:xfrm>
          <a:prstGeom prst="roundRect">
            <a:avLst>
              <a:gd name="adj" fmla="val 24000"/>
            </a:avLst>
          </a:prstGeom>
          <a:solidFill>
            <a:srgbClr val="FFF7ED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012037" y="4788693"/>
            <a:ext cx="1781175" cy="209550"/>
          </a:xfrm>
          <a:prstGeom prst="roundRect">
            <a:avLst>
              <a:gd name="adj" fmla="val 22727"/>
            </a:avLst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91657" y="5275659"/>
            <a:ext cx="19050" cy="76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696170" y="5614987"/>
            <a:ext cx="4010025" cy="219075"/>
          </a:xfrm>
          <a:prstGeom prst="roundRect">
            <a:avLst>
              <a:gd name="adj" fmla="val 21739"/>
            </a:avLst>
          </a:prstGeom>
          <a:solidFill>
            <a:srgbClr val="FFF7ED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83290" y="2604789"/>
            <a:ext cx="265628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83290" y="2072580"/>
            <a:ext cx="265628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83290" y="2072580"/>
            <a:ext cx="28575" cy="54173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830050" y="2072580"/>
            <a:ext cx="9525" cy="54173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83290" y="3647479"/>
            <a:ext cx="265628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183290" y="3115270"/>
            <a:ext cx="265628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3290" y="3115270"/>
            <a:ext cx="28575" cy="54173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830050" y="3115270"/>
            <a:ext cx="9525" cy="54173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183290" y="4690169"/>
            <a:ext cx="265628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183290" y="4157960"/>
            <a:ext cx="265628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183290" y="4157960"/>
            <a:ext cx="28575" cy="54173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830050" y="4157960"/>
            <a:ext cx="9525" cy="54173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83290" y="5728096"/>
            <a:ext cx="265628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83290" y="5200650"/>
            <a:ext cx="265628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183290" y="5200650"/>
            <a:ext cx="28575" cy="536971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1830050" y="5200650"/>
            <a:ext cx="9525" cy="536971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95300" y="5891212"/>
            <a:ext cx="2740372" cy="490537"/>
          </a:xfrm>
          <a:prstGeom prst="roundRect">
            <a:avLst>
              <a:gd name="adj" fmla="val 11650"/>
            </a:avLst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3330922" y="5891212"/>
            <a:ext cx="2740372" cy="490537"/>
          </a:xfrm>
          <a:prstGeom prst="roundRect">
            <a:avLst>
              <a:gd name="adj" fmla="val 11650"/>
            </a:avLst>
          </a:prstGeom>
          <a:solidFill>
            <a:srgbClr val="FFF7ED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166544" y="5891212"/>
            <a:ext cx="2740372" cy="490537"/>
          </a:xfrm>
          <a:prstGeom prst="roundRect">
            <a:avLst>
              <a:gd name="adj" fmla="val 11650"/>
            </a:avLst>
          </a:prstGeom>
          <a:solidFill>
            <a:srgbClr val="FEF2F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357163" y="2431256"/>
            <a:ext cx="1933575" cy="15240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314426" y="2612231"/>
            <a:ext cx="19050" cy="76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41598" y="2717006"/>
            <a:ext cx="3364706" cy="395287"/>
          </a:xfrm>
          <a:prstGeom prst="roundRect">
            <a:avLst>
              <a:gd name="adj" fmla="val 14457"/>
            </a:avLst>
          </a:prstGeom>
          <a:solidFill>
            <a:srgbClr val="FEF2F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294262" y="2431256"/>
            <a:ext cx="2471142" cy="171450"/>
          </a:xfrm>
          <a:prstGeom prst="roundRect">
            <a:avLst>
              <a:gd name="adj" fmla="val 22222"/>
            </a:avLst>
          </a:prstGeom>
          <a:solidFill>
            <a:srgbClr val="DCFCE7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520308" y="2631281"/>
            <a:ext cx="1905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4342804" y="2736056"/>
            <a:ext cx="4374058" cy="242887"/>
          </a:xfrm>
          <a:prstGeom prst="roundRect">
            <a:avLst>
              <a:gd name="adj" fmla="val 23529"/>
            </a:avLst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195262"/>
            <a:ext cx="257175" cy="2286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1960" y="223837"/>
            <a:ext cx="171450" cy="17145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1985" y="223837"/>
            <a:ext cx="133350" cy="17145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0457" y="1340643"/>
            <a:ext cx="114300" cy="109537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5270" y="2221706"/>
            <a:ext cx="104775" cy="104775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5486" y="3895725"/>
            <a:ext cx="85725" cy="9525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8320" y="3895725"/>
            <a:ext cx="85725" cy="9525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5657" y="3895725"/>
            <a:ext cx="85725" cy="9525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97070" y="1257300"/>
            <a:ext cx="114300" cy="104775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07115" y="2186880"/>
            <a:ext cx="85725" cy="100012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07115" y="3229570"/>
            <a:ext cx="76200" cy="100012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07115" y="4272260"/>
            <a:ext cx="104775" cy="100012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28626" y="2812256"/>
            <a:ext cx="104775" cy="100012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84427" y="2821781"/>
            <a:ext cx="104775" cy="100012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22486" y="5986462"/>
            <a:ext cx="104775" cy="100012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48571" y="5986462"/>
            <a:ext cx="104775" cy="100012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41343" y="5986462"/>
            <a:ext cx="85725" cy="100012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-541734" y="676275"/>
            <a:ext cx="1327546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00000"/>
                </a:solidFill>
                <a:latin typeface="Merriweather"/>
              </a:rPr>
              <a:t>TECHNICAL PIPELINE &amp; DECISION TREE ARCHITECTURE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-541734" y="933450"/>
            <a:ext cx="132754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End-to-End Edge-Native Screening, Self-Validation &amp; 3-Tier Clinical Triage Architecture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0525" y="6624637"/>
            <a:ext cx="34676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FFFFFF"/>
                </a:solidFill>
                <a:latin typeface="Plus Jakarta Sans"/>
              </a:rPr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54922" y="6624637"/>
            <a:ext cx="234553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FFFFFF"/>
                </a:solidFill>
                <a:latin typeface="Plus Jakarta Sans"/>
              </a:rPr>
              <a:t>@SIH Idea submission- Template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134725" y="6624637"/>
            <a:ext cx="952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FFFFFF"/>
                </a:solidFill>
                <a:latin typeface="Plus Jakarta Sans"/>
              </a:rPr>
              <a:t>NetraSense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2950" y="176212"/>
            <a:ext cx="137174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lus Jakarta Sans"/>
              </a:rPr>
              <a:t>netraSense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69635" y="241399"/>
            <a:ext cx="2722364" cy="1361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975" b="1" i="0" u="none">
                <a:solidFill>
                  <a:srgbClr val="1E293B"/>
                </a:solidFill>
                <a:latin typeface="Plus Jakarta Sans"/>
              </a:rPr>
              <a:t>SMART INDIA HACKATHON 2026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8874" y="4826793"/>
            <a:ext cx="226479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12" b="1" i="0" u="none">
                <a:solidFill>
                  <a:srgbClr val="B91C1C"/>
                </a:solidFill>
                <a:latin typeface="Plus Jakarta Sans"/>
              </a:rPr>
              <a:t>[Mismatch] Flagged: Attention ≠ Lesion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68637" y="4831556"/>
            <a:ext cx="390525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DC2626"/>
                </a:solidFill>
                <a:latin typeface="Plus Jakarta Sans"/>
              </a:rPr>
              <a:t>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59099" y="4822031"/>
            <a:ext cx="446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7" b="1" i="0" u="none">
                <a:solidFill>
                  <a:srgbClr val="B45309"/>
                </a:solidFill>
                <a:latin typeface="Plus Jakarta Sans"/>
              </a:rPr>
              <a:t>AI Self-Validation: Does Grad-CAM overlap physical detected lesions?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12012" y="4831556"/>
            <a:ext cx="390525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Plus Jakarta Sans"/>
              </a:rPr>
              <a:t>→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84640" y="4826793"/>
            <a:ext cx="2035968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12" b="1" i="0" u="none">
                <a:solidFill>
                  <a:srgbClr val="15803D"/>
                </a:solidFill>
                <a:latin typeface="Plus Jakarta Sans"/>
              </a:rPr>
              <a:t>[Validated] Corroborated Evidence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04467" y="5653087"/>
            <a:ext cx="4593431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7" b="1" i="0" u="none">
                <a:solidFill>
                  <a:srgbClr val="B45309"/>
                </a:solidFill>
                <a:latin typeface="Plus Jakarta Sans"/>
              </a:rPr>
              <a:t>Calibrated Uncertainty Triage (Temperature Scaling + Dirichlet Calibration)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2223" y="1238250"/>
            <a:ext cx="3058417" cy="123825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E3A8A"/>
                </a:solidFill>
                <a:latin typeface="Plus Jakarta Sans"/>
              </a:rPr>
              <a:t>CLINICAL &amp; OPS TAIL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2223" y="1381125"/>
            <a:ext cx="305841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75" b="0" i="0" u="none">
                <a:solidFill>
                  <a:srgbClr val="64748B"/>
                </a:solidFill>
                <a:latin typeface="Plus Jakarta Sans"/>
              </a:rPr>
              <a:t>Closed-Loop Deployment Ecosystem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07115" y="2158305"/>
            <a:ext cx="2884884" cy="128587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E3A8A"/>
                </a:solidFill>
                <a:latin typeface="Plus Jakarta Sans"/>
              </a:rPr>
              <a:t>1. Rapid Doctor Review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307115" y="2305942"/>
            <a:ext cx="2522934" cy="222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77"/>
              </a:lnSpc>
            </a:pPr>
            <a:r>
              <a:rPr sz="675" b="0" i="0" u="none">
                <a:solidFill>
                  <a:srgbClr val="334155"/>
                </a:solidFill>
                <a:latin typeface="Plus Jakarta Sans"/>
              </a:rPr>
              <a:t>Ophthalmologist audits scans in &lt;30s: </a:t>
            </a:r>
            <a:r>
              <a:rPr sz="675" b="0" i="1" u="none">
                <a:solidFill>
                  <a:srgbClr val="334155"/>
                </a:solidFill>
                <a:latin typeface="Plus Jakarta Sans"/>
              </a:rPr>
              <a:t>Accept, Modify, Re-analyze, or Refer</a:t>
            </a:r>
            <a:r>
              <a:rPr sz="675" b="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307115" y="3200995"/>
            <a:ext cx="2884884" cy="128587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0F766E"/>
                </a:solidFill>
                <a:latin typeface="Plus Jakarta Sans"/>
              </a:rPr>
              <a:t>2. 1-Click Bilingual Reports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307115" y="3348632"/>
            <a:ext cx="2522934" cy="222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77"/>
              </a:lnSpc>
            </a:pPr>
            <a:r>
              <a:rPr sz="675" b="0" i="0" u="none">
                <a:solidFill>
                  <a:srgbClr val="334155"/>
                </a:solidFill>
                <a:latin typeface="Plus Jakarta Sans"/>
              </a:rPr>
              <a:t>Comprehensive clinical audit for doctors + localized audio-visual summary for patients.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07115" y="4243685"/>
            <a:ext cx="2884884" cy="128587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EA580C"/>
                </a:solidFill>
                <a:latin typeface="Plus Jakarta Sans"/>
              </a:rPr>
              <a:t>3. Active Learning Loop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307115" y="4391322"/>
            <a:ext cx="2522934" cy="222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77"/>
              </a:lnSpc>
            </a:pPr>
            <a:r>
              <a:rPr sz="675" b="0" i="0" u="none">
                <a:solidFill>
                  <a:srgbClr val="334155"/>
                </a:solidFill>
                <a:latin typeface="Plus Jakarta Sans"/>
              </a:rPr>
              <a:t>Specialist adjustments logged for quarterly offline retraining, improving accuracy over time.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07115" y="5286375"/>
            <a:ext cx="2884884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9333EA"/>
                </a:solidFill>
                <a:latin typeface="Plus Jakarta Sans"/>
              </a:rPr>
              <a:t>4. Simulink Capacity Model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307115" y="5429250"/>
            <a:ext cx="2522934" cy="222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77"/>
              </a:lnSpc>
            </a:pPr>
            <a:r>
              <a:rPr sz="675" b="0" i="0" u="none">
                <a:solidFill>
                  <a:srgbClr val="334155"/>
                </a:solidFill>
                <a:latin typeface="Plus Jakarta Sans"/>
              </a:rPr>
              <a:t>Models district throughput, doctor hours, and bandwidth to support 100,000+ patients.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58411" y="6305252"/>
            <a:ext cx="310604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12" b="1" i="0" u="none">
                <a:solidFill>
                  <a:srgbClr val="1E3A8A"/>
                </a:solidFill>
                <a:latin typeface="Plus Jakarta Sans"/>
              </a:rPr>
              <a:t>Target: &gt;90% Sens. | &gt;85% Spec.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900957" y="1323975"/>
            <a:ext cx="47386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1E3A8A"/>
                </a:solidFill>
                <a:latin typeface="Plus Jakarta Sans"/>
              </a:rPr>
              <a:t>Retinal Image Acquisition (Field Worker / PWA App / Handheld Fundus)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296245" y="2212181"/>
            <a:ext cx="3738562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B45309"/>
                </a:solidFill>
                <a:latin typeface="Plus Jakarta Sans"/>
              </a:rPr>
              <a:t>Local Quality Gate Check (Edge-Native, Offline Evaluator)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9767" y="3829050"/>
            <a:ext cx="206982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1E3A8A"/>
                </a:solidFill>
                <a:latin typeface="Plus Jakarta Sans"/>
              </a:rPr>
              <a:t>1. Enhancement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9767" y="3952875"/>
            <a:ext cx="206982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37" b="0" i="0" u="none">
                <a:solidFill>
                  <a:srgbClr val="475569"/>
                </a:solidFill>
                <a:latin typeface="Plus Jakarta Sans"/>
              </a:rPr>
              <a:t>Adaptive CLAHE + Denoising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466416" y="3829050"/>
            <a:ext cx="227669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1E3A8A"/>
                </a:solidFill>
                <a:latin typeface="Plus Jakarta Sans"/>
              </a:rPr>
              <a:t>2. Segmentation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466416" y="3952875"/>
            <a:ext cx="2276698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37" b="0" i="0" u="none">
                <a:solidFill>
                  <a:srgbClr val="475569"/>
                </a:solidFill>
                <a:latin typeface="Plus Jakarta Sans"/>
              </a:rPr>
              <a:t>Vessels, Disc &amp; Lesions (MA/HE)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679937" y="3829050"/>
            <a:ext cx="206982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1E3A8A"/>
                </a:solidFill>
                <a:latin typeface="Plus Jakarta Sans"/>
              </a:rPr>
              <a:t>3. DR Staging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679937" y="3952875"/>
            <a:ext cx="206982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37" b="0" i="0" u="none">
                <a:solidFill>
                  <a:srgbClr val="475569"/>
                </a:solidFill>
                <a:latin typeface="Plus Jakarta Sans"/>
              </a:rPr>
              <a:t>5-Class ETDRS CNN (0 to 4)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686587" y="3829050"/>
            <a:ext cx="227669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1E3A8A"/>
                </a:solidFill>
                <a:latin typeface="Plus Jakarta Sans"/>
              </a:rPr>
              <a:t>4. Explainability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86587" y="3952875"/>
            <a:ext cx="2276698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37" b="0" i="0" u="none">
                <a:solidFill>
                  <a:srgbClr val="475569"/>
                </a:solidFill>
                <a:latin typeface="Plus Jakarta Sans"/>
              </a:rPr>
              <a:t>Grad-CAM Heatmap Overlays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433363" y="2440781"/>
            <a:ext cx="18764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2" b="1" i="0" u="none">
                <a:solidFill>
                  <a:srgbClr val="DC2626"/>
                </a:solidFill>
                <a:latin typeface="Plus Jakarta Sans"/>
              </a:rPr>
              <a:t>[Poor Quality: Blur &lt; 12.0 | FOV &lt; 0.80]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35309" y="2774156"/>
            <a:ext cx="3977282" cy="280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7" b="1" i="0" u="none">
                <a:solidFill>
                  <a:srgbClr val="B91C1C"/>
                </a:solidFill>
                <a:latin typeface="Plus Jakarta Sans"/>
              </a:rPr>
              <a:t>Recapture Guidance Alert</a:t>
            </a:r>
            <a:r>
              <a:t>
</a:t>
            </a:r>
            <a:r>
              <a:rPr sz="675" b="0" i="0" u="none">
                <a:solidFill>
                  <a:srgbClr val="B91C1C"/>
                </a:solidFill>
                <a:latin typeface="Plus Jakarta Sans"/>
              </a:rPr>
              <a:t>(Real-time audio/visual prompts ⟲ Loops back to Camera)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370462" y="2440781"/>
            <a:ext cx="241399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2" b="1" i="0" u="none">
                <a:solidFill>
                  <a:srgbClr val="16A34A"/>
                </a:solidFill>
                <a:latin typeface="Plus Jakarta Sans"/>
              </a:rPr>
              <a:t>[Passed: Blur ≥ 12.0 | FOV ≥ 0.80 | Illum ∈ [30, 80]]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29397" y="2783681"/>
            <a:ext cx="5200873" cy="1476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7" b="1" i="0" u="none">
                <a:solidFill>
                  <a:srgbClr val="15803D"/>
                </a:solidFill>
                <a:latin typeface="Plus Jakarta Sans"/>
              </a:rPr>
              <a:t>Passes Diagnostic Gate → Image Processing Pipeline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59909" y="5957887"/>
            <a:ext cx="3211152" cy="128587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ctr"/>
            <a:r>
              <a:rPr sz="787" b="1" i="0" u="none">
                <a:solidFill>
                  <a:srgbClr val="15803D"/>
                </a:solidFill>
                <a:latin typeface="Plus Jakarta Sans"/>
              </a:rPr>
              <a:t>1. Confident Normal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59909" y="6105525"/>
            <a:ext cx="321115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" b="1" i="0" u="none">
                <a:solidFill>
                  <a:srgbClr val="166534"/>
                </a:solidFill>
                <a:latin typeface="Plus Jakarta Sans"/>
              </a:rPr>
              <a:t>Auto-Cleared • 0 Doctor Min Spent • Annual Routine Follow-up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095531" y="5957887"/>
            <a:ext cx="3211152" cy="128587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ctr"/>
            <a:r>
              <a:rPr sz="787" b="1" i="0" u="none">
                <a:solidFill>
                  <a:srgbClr val="B45309"/>
                </a:solidFill>
                <a:latin typeface="Plus Jakarta Sans"/>
              </a:rPr>
              <a:t>2. Uncertain / Borderline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095531" y="6105525"/>
            <a:ext cx="321115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75" b="1" i="0" u="none">
                <a:solidFill>
                  <a:srgbClr val="92400E"/>
                </a:solidFill>
                <a:latin typeface="Plus Jakarta Sans"/>
              </a:rPr>
              <a:t>Priority Ophthalmologist Queue • Evaluated in &lt;30 Seconds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931154" y="5957887"/>
            <a:ext cx="3211152" cy="128587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ctr"/>
            <a:r>
              <a:rPr sz="787" b="1" i="0" u="none">
                <a:solidFill>
                  <a:srgbClr val="B91C1C"/>
                </a:solidFill>
                <a:latin typeface="Plus Jakarta Sans"/>
              </a:rPr>
              <a:t>3. Confident Referable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931154" y="6105525"/>
            <a:ext cx="321115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" b="1" i="0" u="none">
                <a:solidFill>
                  <a:srgbClr val="991B1B"/>
                </a:solidFill>
                <a:latin typeface="Plus Jakarta Sans"/>
              </a:rPr>
              <a:t>Urgent Specialist Referral • High Risk of Vision Loss (Stage 2+)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1958</Words>
  <Application>Microsoft Office PowerPoint</Application>
  <PresentationFormat>Widescreen</PresentationFormat>
  <Paragraphs>252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Plus Jakarta Sans</vt:lpstr>
      <vt:lpstr>Calibri</vt:lpstr>
      <vt:lpstr>Merriweather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jeet patel</cp:lastModifiedBy>
  <cp:revision>2</cp:revision>
  <dcterms:created xsi:type="dcterms:W3CDTF">2013-01-27T09:14:16Z</dcterms:created>
  <dcterms:modified xsi:type="dcterms:W3CDTF">2026-09-19T11:18:49Z</dcterms:modified>
  <cp:category/>
</cp:coreProperties>
</file>