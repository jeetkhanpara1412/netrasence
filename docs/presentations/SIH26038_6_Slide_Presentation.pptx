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649224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8B91"/>
                </a:solidFill>
                <a:latin typeface="Aptos Display"/>
              </a:defRPr>
            </a:pPr>
            <a:r>
              <a:t>SIH26038</a:t>
            </a:r>
          </a:p>
          <a:p>
            <a:pPr>
              <a:spcBef>
                <a:spcPts val="600"/>
              </a:spcBef>
              <a:defRPr sz="2500" b="1">
                <a:solidFill>
                  <a:srgbClr val="12243E"/>
                </a:solidFill>
                <a:latin typeface="Aptos Display"/>
              </a:defRPr>
            </a:pPr>
            <a:r>
              <a:t>Quality-Aware &amp; Explainable AI for</a:t>
            </a:r>
            <a:br/>
            <a:r>
              <a:t>Diabetic Retinopathy Screening in Rural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240280"/>
            <a:ext cx="539496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300" b="1">
                <a:solidFill>
                  <a:srgbClr val="12243E"/>
                </a:solidFill>
                <a:latin typeface="Aptos"/>
              </a:defRPr>
            </a:pPr>
            <a:r>
              <a:t>OUR VISION</a:t>
            </a:r>
          </a:p>
          <a:p>
            <a:pPr>
              <a:spcAft>
                <a:spcPts val="300"/>
              </a:spcAft>
              <a:defRPr sz="1700">
                <a:solidFill>
                  <a:srgbClr val="2A333D"/>
                </a:solidFill>
                <a:latin typeface="Aptos"/>
              </a:defRPr>
            </a:pPr>
            <a:r>
              <a:t>“Screen early. Explain clearly. Refer intelligently.”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240280"/>
            <a:ext cx="64008" cy="1143000"/>
          </a:xfrm>
          <a:prstGeom prst="rect">
            <a:avLst/>
          </a:prstGeom>
          <a:solidFill>
            <a:srgbClr val="DA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3611880"/>
            <a:ext cx="539496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PROPOSED SYSTEM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Offline-first AI-assisted screening platform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Checks retinal image quality before prediction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Grades diabetic retinopathy and identifies lesion evidence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Explains decisions with visual evidence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Supports confidence-aware referral and rural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64008" cy="1965960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7960" y="1051560"/>
            <a:ext cx="1828800" cy="640080"/>
          </a:xfrm>
          <a:prstGeom prst="roundRect">
            <a:avLst/>
          </a:prstGeom>
          <a:solidFill>
            <a:srgbClr val="EBF7F8"/>
          </a:solidFill>
          <a:ln w="19050">
            <a:solidFill>
              <a:srgbClr val="19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Fundus Image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52360" y="1691640"/>
            <a:ext cx="0" cy="274320"/>
          </a:xfrm>
          <a:prstGeom prst="line">
            <a:avLst/>
          </a:prstGeom>
          <a:ln w="25400">
            <a:solidFill>
              <a:srgbClr val="19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37960" y="1965960"/>
            <a:ext cx="1828800" cy="731520"/>
          </a:xfrm>
          <a:prstGeom prst="roundRect">
            <a:avLst/>
          </a:prstGeom>
          <a:solidFill>
            <a:srgbClr val="EEF5FB"/>
          </a:solidFill>
          <a:ln w="19050">
            <a:solidFill>
              <a:srgbClr val="2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Quality Gate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52360" y="2697480"/>
            <a:ext cx="0" cy="274320"/>
          </a:xfrm>
          <a:prstGeom prst="line">
            <a:avLst/>
          </a:prstGeom>
          <a:ln w="25400">
            <a:solidFill>
              <a:srgbClr val="19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37960" y="2971800"/>
            <a:ext cx="1828800" cy="731520"/>
          </a:xfrm>
          <a:prstGeom prst="roundRect">
            <a:avLst/>
          </a:prstGeom>
          <a:solidFill>
            <a:srgbClr val="EEF5FB"/>
          </a:solidFill>
          <a:ln w="19050">
            <a:solidFill>
              <a:srgbClr val="2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AI Analysis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52360" y="3703320"/>
            <a:ext cx="0" cy="274319"/>
          </a:xfrm>
          <a:prstGeom prst="line">
            <a:avLst/>
          </a:prstGeom>
          <a:ln w="25400">
            <a:solidFill>
              <a:srgbClr val="19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37960" y="3977639"/>
            <a:ext cx="1828800" cy="731520"/>
          </a:xfrm>
          <a:prstGeom prst="roundRect">
            <a:avLst/>
          </a:prstGeom>
          <a:solidFill>
            <a:srgbClr val="EFF9F4"/>
          </a:solidFill>
          <a:ln w="19050">
            <a:solidFill>
              <a:srgbClr val="35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Explainable AI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52360" y="4709160"/>
            <a:ext cx="0" cy="274320"/>
          </a:xfrm>
          <a:prstGeom prst="line">
            <a:avLst/>
          </a:prstGeom>
          <a:ln w="25400">
            <a:solidFill>
              <a:srgbClr val="19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537960" y="4983480"/>
            <a:ext cx="1828800" cy="731520"/>
          </a:xfrm>
          <a:prstGeom prst="roundRect">
            <a:avLst/>
          </a:prstGeom>
          <a:solidFill>
            <a:srgbClr val="FDF4EE"/>
          </a:solidFill>
          <a:ln w="19050">
            <a:solidFill>
              <a:srgbClr val="DA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Referral +</a:t>
            </a:r>
            <a:br/>
            <a:r>
              <a:t>Doctor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051560"/>
            <a:ext cx="2651760" cy="466344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TEAM MODULES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AI/ML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DR classification &amp; validation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Computer Vision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Enhancement &amp; lesion analysis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Backend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AI API, database &amp; integration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Frontend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Screening &amp; clinician dashboard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Simulation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MATLAB/Simulink scalability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051560"/>
            <a:ext cx="64008" cy="4663440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480"/>
                </a:solidFill>
                <a:latin typeface="Aptos"/>
              </a:defRPr>
            </a:pPr>
            <a:r>
              <a:t>SIH26038  •  Quality-Aware &amp; Explainable AI for Diabetic Retinopathy Screening  |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3E"/>
                </a:solidFill>
                <a:latin typeface="Aptos Display"/>
              </a:defRPr>
            </a:pPr>
            <a:r>
              <a:t>IDEA / PROPOSED SOLUTION /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0"/>
                </a:solidFill>
                <a:latin typeface="Aptos"/>
              </a:defRPr>
            </a:pPr>
            <a:r>
              <a:t>A “Trust-Gated” AI screening system designed for safe rural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97180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THE PROBLEM</a:t>
            </a:r>
          </a:p>
          <a:p>
            <a:pPr>
              <a:spcAft>
                <a:spcPts val="300"/>
              </a:spcAft>
              <a:defRPr sz="1030">
                <a:solidFill>
                  <a:srgbClr val="2A333D"/>
                </a:solidFill>
                <a:latin typeface="Aptos"/>
              </a:defRPr>
            </a:pPr>
            <a:r>
              <a:t>Poor-quality fundus images can cause unreliable predictions.</a:t>
            </a:r>
          </a:p>
          <a:p>
            <a:pPr>
              <a:spcAft>
                <a:spcPts val="300"/>
              </a:spcAft>
              <a:defRPr sz="1030">
                <a:solidFill>
                  <a:srgbClr val="2A333D"/>
                </a:solidFill>
                <a:latin typeface="Aptos"/>
              </a:defRPr>
            </a:pPr>
            <a:r>
              <a:t>Limited access to ophthalmologists delays specialist review.</a:t>
            </a:r>
          </a:p>
          <a:p>
            <a:pPr>
              <a:spcAft>
                <a:spcPts val="300"/>
              </a:spcAft>
              <a:defRPr sz="1030">
                <a:solidFill>
                  <a:srgbClr val="2A333D"/>
                </a:solidFill>
                <a:latin typeface="Aptos"/>
              </a:defRPr>
            </a:pPr>
            <a:r>
              <a:t>Black-box AI reduces clinical trust.</a:t>
            </a:r>
          </a:p>
          <a:p>
            <a:pPr>
              <a:spcAft>
                <a:spcPts val="300"/>
              </a:spcAft>
              <a:defRPr sz="1030">
                <a:solidFill>
                  <a:srgbClr val="2A333D"/>
                </a:solidFill>
                <a:latin typeface="Aptos"/>
              </a:defRPr>
            </a:pPr>
            <a:r>
              <a:t>Connectivity constraints make cloud-only screening impractical.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64008" cy="2057400"/>
          </a:xfrm>
          <a:prstGeom prst="rect">
            <a:avLst/>
          </a:prstGeom>
          <a:solidFill>
            <a:srgbClr val="B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86200" y="1234440"/>
            <a:ext cx="1874519" cy="640080"/>
          </a:xfrm>
          <a:prstGeom prst="roundRect">
            <a:avLst/>
          </a:prstGeom>
          <a:solidFill>
            <a:srgbClr val="EFF9F4"/>
          </a:solidFill>
          <a:ln w="19050">
            <a:solidFill>
              <a:srgbClr val="19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FUNDUS IMAGE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28032" y="1874519"/>
            <a:ext cx="0" cy="274321"/>
          </a:xfrm>
          <a:prstGeom prst="line">
            <a:avLst/>
          </a:prstGeom>
          <a:ln w="25400">
            <a:solidFill>
              <a:srgbClr val="19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86200" y="2148840"/>
            <a:ext cx="1874519" cy="685800"/>
          </a:xfrm>
          <a:prstGeom prst="roundRect">
            <a:avLst/>
          </a:prstGeom>
          <a:solidFill>
            <a:srgbClr val="EEF5FB"/>
          </a:solidFill>
          <a:ln w="19050">
            <a:solidFill>
              <a:srgbClr val="2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TRUST GATE</a:t>
            </a:r>
            <a:br/>
            <a:r>
              <a:t>Quality Check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794760" y="2834640"/>
            <a:ext cx="457200" cy="411480"/>
          </a:xfrm>
          <a:prstGeom prst="line">
            <a:avLst/>
          </a:prstGeom>
          <a:ln w="25400">
            <a:solidFill>
              <a:srgbClr val="19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0" y="2834640"/>
            <a:ext cx="457200" cy="411480"/>
          </a:xfrm>
          <a:prstGeom prst="line">
            <a:avLst/>
          </a:prstGeom>
          <a:ln w="25400">
            <a:solidFill>
              <a:srgbClr val="19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3246120"/>
            <a:ext cx="1828800" cy="685800"/>
          </a:xfrm>
          <a:prstGeom prst="roundRect">
            <a:avLst/>
          </a:prstGeom>
          <a:solidFill>
            <a:srgbClr val="FDF4EE"/>
          </a:solidFill>
          <a:ln w="19050">
            <a:solidFill>
              <a:srgbClr val="BE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UNRELIABLE</a:t>
            </a:r>
            <a:br/>
            <a:r>
              <a:t>→ RETAKE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246120"/>
            <a:ext cx="1828800" cy="685800"/>
          </a:xfrm>
          <a:prstGeom prst="roundRect">
            <a:avLst/>
          </a:prstGeom>
          <a:solidFill>
            <a:srgbClr val="EFF9F4"/>
          </a:solidFill>
          <a:ln w="19050">
            <a:solidFill>
              <a:srgbClr val="35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RELIABLE</a:t>
            </a:r>
            <a:br/>
            <a:r>
              <a:t>→ AI ANALYSIS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09360" y="3931920"/>
            <a:ext cx="0" cy="320040"/>
          </a:xfrm>
          <a:prstGeom prst="line">
            <a:avLst/>
          </a:prstGeom>
          <a:ln w="25400">
            <a:solidFill>
              <a:srgbClr val="19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57800" y="4251960"/>
            <a:ext cx="2103120" cy="6858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9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243E"/>
                </a:solidFill>
                <a:latin typeface="Aptos"/>
              </a:defRPr>
            </a:pPr>
            <a:r>
              <a:t>DR + LESION + ANATOMY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9360" y="4937760"/>
            <a:ext cx="0" cy="292608"/>
          </a:xfrm>
          <a:prstGeom prst="line">
            <a:avLst/>
          </a:prstGeom>
          <a:ln w="25400">
            <a:solidFill>
              <a:srgbClr val="198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57800" y="5230368"/>
            <a:ext cx="2103120" cy="685800"/>
          </a:xfrm>
          <a:prstGeom prst="roundRect">
            <a:avLst/>
          </a:prstGeom>
          <a:solidFill>
            <a:srgbClr val="EEF5FB"/>
          </a:solidFill>
          <a:ln w="19050">
            <a:solidFill>
              <a:srgbClr val="2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243E"/>
                </a:solidFill>
                <a:latin typeface="Aptos"/>
              </a:defRPr>
            </a:pPr>
            <a:r>
              <a:t>EXPLANATION + 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234440"/>
            <a:ext cx="370332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1. QUALITY-GATED AI</a:t>
            </a:r>
          </a:p>
          <a:p>
            <a:pPr>
              <a:spcAft>
                <a:spcPts val="300"/>
              </a:spcAft>
              <a:defRPr sz="960">
                <a:solidFill>
                  <a:srgbClr val="2A333D"/>
                </a:solidFill>
                <a:latin typeface="Aptos"/>
              </a:defRPr>
            </a:pPr>
            <a:r>
              <a:t>Reject bad images before DR prediction.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1234440"/>
            <a:ext cx="64008" cy="960120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09560" y="2331720"/>
            <a:ext cx="370332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2. EVIDENCE-BASED EXPLAINABILITY</a:t>
            </a:r>
          </a:p>
          <a:p>
            <a:pPr>
              <a:spcAft>
                <a:spcPts val="300"/>
              </a:spcAft>
              <a:defRPr sz="960">
                <a:solidFill>
                  <a:srgbClr val="2A333D"/>
                </a:solidFill>
                <a:latin typeface="Aptos"/>
              </a:defRPr>
            </a:pPr>
            <a:r>
              <a:t>Grad-CAM + lesion regions, not only a generic heatmap.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2331720"/>
            <a:ext cx="64008" cy="96012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09560" y="3429000"/>
            <a:ext cx="370332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3. CONFIDENCE-AWARE REFERRAL</a:t>
            </a:r>
          </a:p>
          <a:p>
            <a:pPr>
              <a:spcAft>
                <a:spcPts val="300"/>
              </a:spcAft>
              <a:defRPr sz="960">
                <a:solidFill>
                  <a:srgbClr val="2A333D"/>
                </a:solidFill>
                <a:latin typeface="Aptos"/>
              </a:defRPr>
            </a:pPr>
            <a:r>
              <a:t>Low-risk / Referable / High-risk / Uncertain → human review.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3429000"/>
            <a:ext cx="64008" cy="960120"/>
          </a:xfrm>
          <a:prstGeom prst="rect">
            <a:avLst/>
          </a:prstGeom>
          <a:solidFill>
            <a:srgbClr val="DA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09560" y="4526280"/>
            <a:ext cx="370332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4. OFFLINE-FIRST + SCALABLE</a:t>
            </a:r>
          </a:p>
          <a:p>
            <a:pPr>
              <a:spcAft>
                <a:spcPts val="300"/>
              </a:spcAft>
              <a:defRPr sz="960">
                <a:solidFill>
                  <a:srgbClr val="2A333D"/>
                </a:solidFill>
                <a:latin typeface="Aptos"/>
              </a:defRPr>
            </a:pPr>
            <a:r>
              <a:t>Local inference with synchronization; Simulink models district-scale capacity.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4526280"/>
            <a:ext cx="64008" cy="960120"/>
          </a:xfrm>
          <a:prstGeom prst="rect">
            <a:avLst/>
          </a:prstGeom>
          <a:solidFill>
            <a:srgbClr val="35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5806440"/>
            <a:ext cx="10972800" cy="438912"/>
          </a:xfrm>
          <a:prstGeom prst="roundRect">
            <a:avLst/>
          </a:prstGeom>
          <a:solidFill>
            <a:srgbClr val="12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ptos"/>
              </a:defRPr>
            </a:pPr>
            <a:r>
              <a:t>Prototype Output: DR Grade 3  •  Confidence 93%  •  Image Quality 91%  •  Referable DR: YES  •  Ophthalmologist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480"/>
                </a:solidFill>
                <a:latin typeface="Aptos"/>
              </a:defRPr>
            </a:pPr>
            <a:r>
              <a:t>SIH26038  •  Quality-Aware &amp; Explainable AI for Diabetic Retinopathy Screening  |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3E"/>
                </a:solidFill>
                <a:latin typeface="Aptos Display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0"/>
                </a:solidFill>
                <a:latin typeface="Aptos"/>
              </a:defRPr>
            </a:pPr>
            <a:r>
              <a:t>End-to-end architecture: from fundus capture to explainable referral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508760" cy="868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9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243E"/>
                </a:solidFill>
                <a:latin typeface="Aptos"/>
              </a:defRPr>
            </a:pPr>
            <a:r>
              <a:t>1</a:t>
            </a:r>
            <a:br/>
            <a:r>
              <a:t>Image</a:t>
            </a:r>
            <a:br/>
            <a:r>
              <a:t>Acquisition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1664208"/>
            <a:ext cx="320040" cy="0"/>
          </a:xfrm>
          <a:prstGeom prst="line">
            <a:avLst/>
          </a:prstGeom>
          <a:ln w="2540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31720" y="1234440"/>
            <a:ext cx="1508760" cy="868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243E"/>
                </a:solidFill>
                <a:latin typeface="Aptos"/>
              </a:defRPr>
            </a:pPr>
            <a:r>
              <a:t>2</a:t>
            </a:r>
            <a:br/>
            <a:r>
              <a:t>Quality</a:t>
            </a:r>
            <a:br/>
            <a:r>
              <a:t>Assessment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79" y="1664208"/>
            <a:ext cx="320041" cy="0"/>
          </a:xfrm>
          <a:prstGeom prst="line">
            <a:avLst/>
          </a:prstGeom>
          <a:ln w="2540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60520" y="1234440"/>
            <a:ext cx="1508760" cy="868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47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243E"/>
                </a:solidFill>
                <a:latin typeface="Aptos"/>
              </a:defRPr>
            </a:pPr>
            <a:r>
              <a:t>3</a:t>
            </a:r>
            <a:br/>
            <a:r>
              <a:t>Pre-</a:t>
            </a:r>
            <a:br/>
            <a:r>
              <a:t>processing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9" y="1664208"/>
            <a:ext cx="320041" cy="0"/>
          </a:xfrm>
          <a:prstGeom prst="line">
            <a:avLst/>
          </a:prstGeom>
          <a:ln w="2540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89320" y="1234440"/>
            <a:ext cx="1508760" cy="868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A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243E"/>
                </a:solidFill>
                <a:latin typeface="Aptos"/>
              </a:defRPr>
            </a:pPr>
            <a:r>
              <a:t>4</a:t>
            </a:r>
            <a:br/>
            <a:r>
              <a:t>AI</a:t>
            </a:r>
            <a:br/>
            <a:r>
              <a:t>Analysis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79" y="1664208"/>
            <a:ext cx="320041" cy="0"/>
          </a:xfrm>
          <a:prstGeom prst="line">
            <a:avLst/>
          </a:prstGeom>
          <a:ln w="2540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818120" y="1234440"/>
            <a:ext cx="1508760" cy="868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5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243E"/>
                </a:solidFill>
                <a:latin typeface="Aptos"/>
              </a:defRPr>
            </a:pPr>
            <a:r>
              <a:t>5</a:t>
            </a:r>
            <a:br/>
            <a:r>
              <a:t>Explainable</a:t>
            </a:r>
            <a:br/>
            <a:r>
              <a:t>AI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0" y="1664208"/>
            <a:ext cx="320040" cy="0"/>
          </a:xfrm>
          <a:prstGeom prst="line">
            <a:avLst/>
          </a:prstGeom>
          <a:ln w="2540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46920" y="1234440"/>
            <a:ext cx="1508760" cy="86868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2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243E"/>
                </a:solidFill>
                <a:latin typeface="Aptos"/>
              </a:defRPr>
            </a:pPr>
            <a:r>
              <a:t>6</a:t>
            </a:r>
            <a:br/>
            <a:r>
              <a:t>Risk +</a:t>
            </a:r>
            <a:br/>
            <a:r>
              <a:t>Referral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468880"/>
            <a:ext cx="34290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QUALITY + PREPROCESSING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Laplacian variance → focus / blur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Illumination score → exposure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FOV ratio → retinal coverage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Retinal-region extraction, resize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CLAHE, illumination normalization, denoising, augmentation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68880"/>
            <a:ext cx="64008" cy="1920240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14800" y="2468880"/>
            <a:ext cx="36576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AI ANALYSIS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EfficientNet / ConvNeXt → 5-class DR grading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U-Net / segmentation models → vessels &amp; lesions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Lesions: microaneurysms, exudates, hemorrhages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Anatomy: optic disc / fovea localization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468880"/>
            <a:ext cx="64008" cy="192024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55279" y="2468880"/>
            <a:ext cx="3657600" cy="192024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EXPLAINABILITY + DECISION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Grad-CAM / Grad-CAM++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Lesion masks as evidence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Confidence calibration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Grade 0–1 → routine monitoring</a:t>
            </a:r>
          </a:p>
          <a:p>
            <a:pPr>
              <a:spcAft>
                <a:spcPts val="300"/>
              </a:spcAft>
              <a:defRPr sz="980">
                <a:solidFill>
                  <a:srgbClr val="2A333D"/>
                </a:solidFill>
                <a:latin typeface="Aptos"/>
              </a:defRPr>
            </a:pPr>
            <a:r>
              <a:t>• Grade 2–4 → referable; uncertain → human 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468880"/>
            <a:ext cx="64008" cy="1920240"/>
          </a:xfrm>
          <a:prstGeom prst="rect">
            <a:avLst/>
          </a:prstGeom>
          <a:solidFill>
            <a:srgbClr val="DA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4617720"/>
            <a:ext cx="548640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APPLICATION LAYER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FastAPI → inference &amp; REST APIs    |    React → healthcare dashboard    |    PostgreSQL → patient/screening 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17720"/>
            <a:ext cx="64008" cy="1234440"/>
          </a:xfrm>
          <a:prstGeom prst="rect">
            <a:avLst/>
          </a:prstGeom>
          <a:solidFill>
            <a:srgbClr val="35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4617720"/>
            <a:ext cx="544068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SIMULATION LAYER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MATLAB + Simulink → patient arrivals, acquisition, AI throughput, bandwidth, doctor capacity, queues and 100,000+ patients/year scalability.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617720"/>
            <a:ext cx="64008" cy="1234440"/>
          </a:xfrm>
          <a:prstGeom prst="rect">
            <a:avLst/>
          </a:prstGeom>
          <a:solidFill>
            <a:srgbClr val="12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480"/>
                </a:solidFill>
                <a:latin typeface="Aptos"/>
              </a:defRPr>
            </a:pPr>
            <a:r>
              <a:t>SIH26038  •  Quality-Aware &amp; Explainable AI for Diabetic Retinopathy Screening  |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3E"/>
                </a:solidFill>
                <a:latin typeface="Aptos Display"/>
              </a:defRPr>
            </a:pPr>
            <a:r>
              <a:t>FEASIBILITY &amp;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0"/>
                </a:solidFill>
                <a:latin typeface="Aptos"/>
              </a:defRPr>
            </a:pPr>
            <a:r>
              <a:t>Designed to work from prototype hardware to district-scale rural screening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4747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DEPLOYMENT LEVEL 1 — PROTOTYPE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Laptop + retinal images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Local Python AI inference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React/Streamlit interface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FastAPI 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64008" cy="1828800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60520" y="1234440"/>
            <a:ext cx="347472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LEVEL 2 — RURAL PHC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Fundus camera + local AI workstation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Immediate image-quality feedback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Offline inference + local storage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Synchronize when connectivity returns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234440"/>
            <a:ext cx="64008" cy="182880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18120" y="1234440"/>
            <a:ext cx="3794760" cy="182880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LEVEL 3 — DISTRICT NETWORK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Multiple PHCs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Centralized specialist review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Queue and capacity monitoring</a:t>
            </a:r>
          </a:p>
          <a:p>
            <a:pPr>
              <a:spcAft>
                <a:spcPts val="300"/>
              </a:spcAft>
              <a:defRPr sz="1050">
                <a:solidFill>
                  <a:srgbClr val="2A333D"/>
                </a:solidFill>
                <a:latin typeface="Aptos"/>
              </a:defRPr>
            </a:pPr>
            <a:r>
              <a:t>Simulink-driven deployment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234440"/>
            <a:ext cx="64008" cy="1828800"/>
          </a:xfrm>
          <a:prstGeom prst="rect">
            <a:avLst/>
          </a:prstGeom>
          <a:solidFill>
            <a:srgbClr val="35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383280"/>
            <a:ext cx="3657600" cy="224028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TECHNICAL + ECONOMIC VIABILITY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Lightweight models can be optimized for CPU/edge inference.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Modular components can be developed and tested independently.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Reduces dependence on continuous cloud processing.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Uses commodity computers plus affordable fundus cameras.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83280"/>
            <a:ext cx="64008" cy="2240280"/>
          </a:xfrm>
          <a:prstGeom prst="rect">
            <a:avLst/>
          </a:prstGeom>
          <a:solidFill>
            <a:srgbClr val="DA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3383280"/>
            <a:ext cx="3383280" cy="224028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RISK MITIGATION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Blurry image → automatic rejection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Poor lighting → enhancement + illumination check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AI uncertainty → confidence threshold + human review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Internet failure → offline local inference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Dataset bias → external validation</a:t>
            </a:r>
          </a:p>
          <a:p>
            <a:pPr>
              <a:spcAft>
                <a:spcPts val="300"/>
              </a:spcAft>
              <a:defRPr sz="969">
                <a:solidFill>
                  <a:srgbClr val="2A333D"/>
                </a:solidFill>
                <a:latin typeface="Aptos"/>
              </a:defRPr>
            </a:pPr>
            <a:r>
              <a:t>False reassurance → conservative referral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3383280"/>
            <a:ext cx="64008" cy="2240280"/>
          </a:xfrm>
          <a:prstGeom prst="rect">
            <a:avLst/>
          </a:prstGeom>
          <a:solidFill>
            <a:srgbClr val="B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09560" y="3383280"/>
            <a:ext cx="3703320" cy="224028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VALIDATION STRATEGY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Training: APTOS 2019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Lesion analysis: IDRiD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Vessel segmentation: DRIVE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External validation: Messidor-2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SIH target: &gt;90% sensitivity and &gt;85% specificity for referable DR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3383280"/>
            <a:ext cx="64008" cy="2240280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480"/>
                </a:solidFill>
                <a:latin typeface="Aptos"/>
              </a:defRPr>
            </a:pPr>
            <a:r>
              <a:t>SIH26038  •  Quality-Aware &amp; Explainable AI for Diabetic Retinopathy Screening  |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3E"/>
                </a:solidFill>
                <a:latin typeface="Aptos Display"/>
              </a:defRPr>
            </a:pPr>
            <a:r>
              <a:t>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0"/>
                </a:solidFill>
                <a:latin typeface="Aptos"/>
              </a:defRPr>
            </a:pPr>
            <a:r>
              <a:t>From image screening to practical rural eye-care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874519" cy="8229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9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Rural</a:t>
            </a:r>
            <a:br/>
            <a:r>
              <a:t>Screening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77440" y="1645920"/>
            <a:ext cx="393192" cy="0"/>
          </a:xfrm>
          <a:prstGeom prst="line">
            <a:avLst/>
          </a:prstGeom>
          <a:ln w="2540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70632" y="1234440"/>
            <a:ext cx="1874519" cy="8229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3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Earlier</a:t>
            </a:r>
            <a:br/>
            <a:r>
              <a:t>Detection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45152" y="1645920"/>
            <a:ext cx="393192" cy="0"/>
          </a:xfrm>
          <a:prstGeom prst="line">
            <a:avLst/>
          </a:prstGeom>
          <a:ln w="2540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38344" y="1234440"/>
            <a:ext cx="1874519" cy="8229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DA8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Targeted</a:t>
            </a:r>
            <a:br/>
            <a:r>
              <a:t>Referral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12864" y="1645920"/>
            <a:ext cx="393192" cy="0"/>
          </a:xfrm>
          <a:prstGeom prst="line">
            <a:avLst/>
          </a:prstGeom>
          <a:ln w="2540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06055" y="1234440"/>
            <a:ext cx="1874519" cy="8229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5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Earlier</a:t>
            </a:r>
            <a:br/>
            <a:r>
              <a:t>Treatment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0576" y="1645920"/>
            <a:ext cx="393191" cy="0"/>
          </a:xfrm>
          <a:prstGeom prst="line">
            <a:avLst/>
          </a:prstGeom>
          <a:ln w="25400">
            <a:solidFill>
              <a:srgbClr val="68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73768" y="1234440"/>
            <a:ext cx="1874519" cy="82296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12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2243E"/>
                </a:solidFill>
                <a:latin typeface="Aptos"/>
              </a:defRPr>
            </a:pPr>
            <a:r>
              <a:t>Reduced</a:t>
            </a:r>
            <a:br/>
            <a:r>
              <a:t>Vision 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14600"/>
            <a:ext cx="3520440" cy="224028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PATIENT IMPACT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• Earlier detection before severe vision loss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• Screening closer to the patient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• Reduced unnecessary travel to cities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• Faster routing of high-risk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14600"/>
            <a:ext cx="64008" cy="2240280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2514600"/>
            <a:ext cx="3520440" cy="224028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HEALTHCARE WORKER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• Real-time image-quality feedback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• Clear recapture instructions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• Faster screening workflow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• Consistent AI-assisted first-level assessment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514600"/>
            <a:ext cx="64008" cy="224028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2514600"/>
            <a:ext cx="3520440" cy="224028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OPHTHALMOLOGIST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• DR grade + confidence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• Lesion evidence + Grad-CAM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• Prioritized referral queue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• Human remains the final decision-maker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514600"/>
            <a:ext cx="64008" cy="2240280"/>
          </a:xfrm>
          <a:prstGeom prst="rect">
            <a:avLst/>
          </a:prstGeom>
          <a:solidFill>
            <a:srgbClr val="DA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3000" y="5166360"/>
            <a:ext cx="9875520" cy="749808"/>
          </a:xfrm>
          <a:prstGeom prst="roundRect">
            <a:avLst/>
          </a:prstGeom>
          <a:solidFill>
            <a:srgbClr val="12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“We are not replacing the ophthalmologist — we are bringing reliable, explainable screening closer to the patient.”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480"/>
                </a:solidFill>
                <a:latin typeface="Aptos"/>
              </a:defRPr>
            </a:pPr>
            <a:r>
              <a:t>SIH26038  •  Quality-Aware &amp; Explainable AI for Diabetic Retinopathy Screening  |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3E"/>
                </a:solidFill>
                <a:latin typeface="Aptos Display"/>
              </a:defRPr>
            </a:pPr>
            <a:r>
              <a:t>RESEARCH, DATASETS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7480"/>
                </a:solidFill>
                <a:latin typeface="Aptos"/>
              </a:defRPr>
            </a:pPr>
            <a:r>
              <a:t>Evidence base and implementation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27432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APTOS 2019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5-class diabetic retinopathy grading.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Primary classification dataset.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64008" cy="1417320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188720"/>
            <a:ext cx="27432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IDRiD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DR grading, lesion segmentation,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optic disc / fovea analysis.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188720"/>
            <a:ext cx="64008" cy="1417320"/>
          </a:xfrm>
          <a:prstGeom prst="rect">
            <a:avLst/>
          </a:prstGeom>
          <a:solidFill>
            <a:srgbClr val="23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188720"/>
            <a:ext cx="251460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DRIVE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Retinal blood-vessel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segmentation.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188720"/>
            <a:ext cx="64008" cy="1417320"/>
          </a:xfrm>
          <a:prstGeom prst="rect">
            <a:avLst/>
          </a:prstGeom>
          <a:solidFill>
            <a:srgbClr val="35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89720" y="1188720"/>
            <a:ext cx="242316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MESSIDOR-2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External / generalization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validation.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20" y="1188720"/>
            <a:ext cx="64008" cy="1417320"/>
          </a:xfrm>
          <a:prstGeom prst="rect">
            <a:avLst/>
          </a:prstGeom>
          <a:solidFill>
            <a:srgbClr val="DA8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880360"/>
            <a:ext cx="5257800" cy="228600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CORE RESEARCH AREAS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Deep learning → EfficientNet / ConvNeXt transfer learning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Medical image segmentation → U-Net for vessels &amp; lesions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Explainable AI → Grad-CAM / Grad-CAM++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Confidence calibration → safer referral decision support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Edge AI → local inference for low-connectivity settings</a:t>
            </a:r>
          </a:p>
          <a:p>
            <a:pPr>
              <a:spcAft>
                <a:spcPts val="300"/>
              </a:spcAft>
              <a:defRPr sz="1019">
                <a:solidFill>
                  <a:srgbClr val="2A333D"/>
                </a:solidFill>
                <a:latin typeface="Aptos"/>
              </a:defRPr>
            </a:pPr>
            <a:r>
              <a:t>Discrete-event simulation → MATLAB/Simulink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80360"/>
            <a:ext cx="64008" cy="2286000"/>
          </a:xfrm>
          <a:prstGeom prst="rect">
            <a:avLst/>
          </a:prstGeom>
          <a:solidFill>
            <a:srgbClr val="19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89320" y="2880360"/>
            <a:ext cx="5623560" cy="228600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 tIns="109728" bIns="73152"/>
          <a:lstStyle/>
          <a:p>
            <a:pPr algn="ctr">
              <a:spcAft>
                <a:spcPts val="500"/>
              </a:spcAft>
              <a:defRPr sz="1400" b="1">
                <a:solidFill>
                  <a:srgbClr val="12243E"/>
                </a:solidFill>
                <a:latin typeface="Aptos"/>
              </a:defRPr>
            </a:pPr>
            <a:r>
              <a:t>IMPLEMENTATION ROADMAP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1. Dataset preparation + preprocessing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2. Image-quality gate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3. DR 0–4 classifier + referable DR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4. Lesion / vessel analysis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5. Grad-CAM + confidence calibration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6. FastAPI + React + PostgreSQL</a:t>
            </a:r>
          </a:p>
          <a:p>
            <a:pPr>
              <a:spcAft>
                <a:spcPts val="300"/>
              </a:spcAft>
              <a:defRPr sz="1000">
                <a:solidFill>
                  <a:srgbClr val="2A333D"/>
                </a:solidFill>
                <a:latin typeface="Aptos"/>
              </a:defRPr>
            </a:pPr>
            <a:r>
              <a:t>7. Simulink scalability + Messidor-2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880360"/>
            <a:ext cx="64008" cy="2286000"/>
          </a:xfrm>
          <a:prstGeom prst="rect">
            <a:avLst/>
          </a:prstGeom>
          <a:solidFill>
            <a:srgbClr val="12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5440680"/>
            <a:ext cx="11109960" cy="59436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A333D"/>
                </a:solidFill>
                <a:latin typeface="Aptos"/>
              </a:defRPr>
            </a:pPr>
            <a:r>
              <a:t>Key references: APTOS 2019 • IDRiD (Porwal et al., 2018) • DRIVE (Staal et al., 2004) • Messidor-2 • Grad-CAM (Selvaraju et al., ICCV 2017) • U-Net (Ronneberger et al., MICCAI 2015) • SIH26038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064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7480"/>
                </a:solidFill>
                <a:latin typeface="Aptos"/>
              </a:defRPr>
            </a:pPr>
            <a:r>
              <a:t>SIH26038  •  Quality-Aware &amp; Explainable AI for Diabetic Retinopathy Screening  |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