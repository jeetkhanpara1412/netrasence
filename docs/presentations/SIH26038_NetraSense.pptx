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28737" y="723951"/>
            <a:ext cx="8256086" cy="460288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9951" y="1734086"/>
            <a:ext cx="11305023" cy="3690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26038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AI for Diabetic Retinopathy Screening in Rural India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000" b="1" dirty="0">
                <a:solidFill>
                  <a:srgbClr val="1E3A8A"/>
                </a:solidFill>
                <a:latin typeface="Plus Jakarta Sans"/>
              </a:rPr>
              <a:t>MedTech / Biotech / HealthTech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IN" sz="2000" b="1" dirty="0">
                <a:solidFill>
                  <a:srgbClr val="1E3A8A"/>
                </a:solidFill>
                <a:latin typeface="Plus Jakarta Sans"/>
                <a:cs typeface="Arial" panose="020B0604020202020204" pitchFamily="34" charset="0"/>
              </a:rPr>
              <a:t>NetraSense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8286BBAA-4466-BF5C-E1D7-00D46124E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03" y="195261"/>
            <a:ext cx="415497" cy="369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00C9A4-82BA-E0B9-1519-6885D3F95A02}"/>
              </a:ext>
            </a:extLst>
          </p:cNvPr>
          <p:cNvSpPr txBox="1"/>
          <p:nvPr/>
        </p:nvSpPr>
        <p:spPr>
          <a:xfrm>
            <a:off x="742950" y="176212"/>
            <a:ext cx="146270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E3A8A"/>
                </a:solidFill>
                <a:latin typeface="Plus Jakarta Sans"/>
              </a:rPr>
              <a:t>NetraSense</a:t>
            </a:r>
            <a:endParaRPr sz="1650" b="1" i="0" u="none" dirty="0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9E7931-620B-1BC5-980F-1DFDD35D7B3E}"/>
              </a:ext>
            </a:extLst>
          </p:cNvPr>
          <p:cNvSpPr txBox="1"/>
          <p:nvPr/>
        </p:nvSpPr>
        <p:spPr>
          <a:xfrm>
            <a:off x="2762250" y="11239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DC43EC-2230-A242-0CF5-0729A747B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E150D71-4240-8AB4-21AA-17E511CC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7DAEDD79-D995-31EF-3B2F-D68A14D4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503238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C6D408-2892-C7BF-476B-45E9A3B4AC65}"/>
              </a:ext>
            </a:extLst>
          </p:cNvPr>
          <p:cNvSpPr txBox="1"/>
          <p:nvPr/>
        </p:nvSpPr>
        <p:spPr>
          <a:xfrm>
            <a:off x="182998" y="934623"/>
            <a:ext cx="7427170" cy="1213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rgbClr val="DC2626"/>
                </a:solidFill>
                <a:latin typeface="Merriweather"/>
              </a:rPr>
              <a:t>EXISTING PROBLEM</a:t>
            </a:r>
            <a:endParaRPr lang="en-US" b="1" dirty="0">
              <a:solidFill>
                <a:srgbClr val="0F172A"/>
              </a:solidFill>
              <a:latin typeface="Plus Jakarta Sans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Few eye specialists:</a:t>
            </a:r>
            <a:r>
              <a:rPr lang="en-IN" sz="1400" dirty="0"/>
              <a:t> Most eye doctors are in cities, so rural people have limited access.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Poor image quality:</a:t>
            </a:r>
            <a:r>
              <a:rPr lang="en-IN" sz="1400" dirty="0"/>
              <a:t> Rural workers may capture blurry or poorly lit eye images.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Late detection:</a:t>
            </a:r>
            <a:r>
              <a:rPr lang="en-IN" sz="1400" dirty="0"/>
              <a:t> Diabetic Retinopathy often has no early symptoms, so it can be detected too late.</a:t>
            </a:r>
          </a:p>
        </p:txBody>
      </p:sp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29B6FAFF-F979-08D5-BDDF-4A2B75B1D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03" y="195261"/>
            <a:ext cx="415497" cy="36933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AEC9306-A329-2D38-3647-C327ED1FDB17}"/>
              </a:ext>
            </a:extLst>
          </p:cNvPr>
          <p:cNvSpPr txBox="1"/>
          <p:nvPr/>
        </p:nvSpPr>
        <p:spPr>
          <a:xfrm>
            <a:off x="742950" y="176212"/>
            <a:ext cx="146270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E3A8A"/>
                </a:solidFill>
                <a:latin typeface="Plus Jakarta Sans"/>
              </a:rPr>
              <a:t>NetraSense</a:t>
            </a:r>
            <a:endParaRPr sz="1650" b="1" i="0" u="none" dirty="0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CA5A5C-FDC0-05D6-DCD9-1E231780F649}"/>
              </a:ext>
            </a:extLst>
          </p:cNvPr>
          <p:cNvSpPr txBox="1"/>
          <p:nvPr/>
        </p:nvSpPr>
        <p:spPr>
          <a:xfrm>
            <a:off x="182998" y="2644356"/>
            <a:ext cx="7427170" cy="15362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rgbClr val="1E3A8A"/>
                </a:solidFill>
                <a:latin typeface="Merriweather"/>
              </a:rPr>
              <a:t>PROPOSED SOLUTION</a:t>
            </a:r>
            <a:endParaRPr lang="en-US" b="1" dirty="0">
              <a:solidFill>
                <a:srgbClr val="0F172A"/>
              </a:solidFill>
              <a:latin typeface="Plus Jakarta Sans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AI Image Quality Check:</a:t>
            </a:r>
            <a:r>
              <a:rPr lang="en-IN" sz="1400" dirty="0"/>
              <a:t> Tells the operator how to retake a bad image.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Image Enhancement:</a:t>
            </a:r>
            <a:r>
              <a:rPr lang="en-IN" sz="1400" dirty="0"/>
              <a:t> Automatically improves brightness, contrast, and retinal details.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5-Level DR Detection:</a:t>
            </a:r>
            <a:r>
              <a:rPr lang="en-IN" sz="1400" dirty="0"/>
              <a:t> Detects </a:t>
            </a:r>
            <a:r>
              <a:rPr lang="en-IN" sz="1400" b="1" dirty="0"/>
              <a:t>No, Mild, Moderate, Severe, and Proliferative DR</a:t>
            </a:r>
            <a:r>
              <a:rPr lang="en-IN" sz="1400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Explainable AI:</a:t>
            </a:r>
            <a:r>
              <a:rPr lang="en-IN" sz="1400" dirty="0"/>
              <a:t> Shows the areas of the retina that influenced the AI's result.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0196DF-DA58-60FF-82D7-25B445897752}"/>
              </a:ext>
            </a:extLst>
          </p:cNvPr>
          <p:cNvSpPr txBox="1"/>
          <p:nvPr/>
        </p:nvSpPr>
        <p:spPr>
          <a:xfrm>
            <a:off x="182998" y="4784978"/>
            <a:ext cx="742717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b="1" dirty="0">
                <a:solidFill>
                  <a:srgbClr val="16A34A"/>
                </a:solidFill>
                <a:latin typeface="Merriweather"/>
              </a:rPr>
              <a:t>UNIQUE VALUE PROPOSITION (UVP)</a:t>
            </a:r>
            <a:endParaRPr lang="en-IN" b="1" i="0" u="none" dirty="0">
              <a:solidFill>
                <a:srgbClr val="0F172A"/>
              </a:solidFill>
              <a:latin typeface="Plus Jakarta Sans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Works Offline:</a:t>
            </a:r>
            <a:r>
              <a:rPr lang="en-IN" sz="1400" dirty="0"/>
              <a:t> Runs on a laptop/tablet without continuous internet.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One-Click Reports:</a:t>
            </a:r>
            <a:r>
              <a:rPr lang="en-IN" sz="1400" dirty="0"/>
              <a:t> Creates simple multilingual PDF reports with AI evidence.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Telemedicine Sync:</a:t>
            </a:r>
            <a:r>
              <a:rPr lang="en-IN" sz="1400" dirty="0"/>
              <a:t> Saves patient data locally and syncs it securely when internet is available.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4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8" name="Rounded Rectangle 3"/>
          <p:cNvSpPr/>
          <p:nvPr/>
        </p:nvSpPr>
        <p:spPr>
          <a:xfrm>
            <a:off x="9197535" y="1286744"/>
            <a:ext cx="1121652" cy="278530"/>
          </a:xfrm>
          <a:prstGeom prst="roundRect">
            <a:avLst/>
          </a:prstGeom>
          <a:solidFill>
            <a:srgbClr val="F1F7FF"/>
          </a:solidFill>
          <a:ln w="16510">
            <a:solidFill>
              <a:srgbClr val="194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rgbClr val="2D2D37"/>
                </a:solidFill>
                <a:latin typeface="Aptos"/>
              </a:rPr>
              <a:t>Retinal Image</a:t>
            </a:r>
          </a:p>
        </p:txBody>
      </p:sp>
      <p:sp>
        <p:nvSpPr>
          <p:cNvPr id="10" name="Rounded Rectangle 4"/>
          <p:cNvSpPr/>
          <p:nvPr/>
        </p:nvSpPr>
        <p:spPr>
          <a:xfrm>
            <a:off x="9145272" y="1775427"/>
            <a:ext cx="1296277" cy="287662"/>
          </a:xfrm>
          <a:prstGeom prst="roundRect">
            <a:avLst/>
          </a:prstGeom>
          <a:solidFill>
            <a:srgbClr val="FFF7EF"/>
          </a:solidFill>
          <a:ln w="16510">
            <a:solidFill>
              <a:srgbClr val="E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E56A00"/>
                </a:solidFill>
                <a:latin typeface="Aptos"/>
              </a:rPr>
              <a:t>Quality Check &amp; Enhancement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2567" y="2278881"/>
            <a:ext cx="1120601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FF2828"/>
                </a:solidFill>
                <a:latin typeface="Aptos"/>
              </a:rPr>
              <a:t>[Poor Quality]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5011" y="2296770"/>
            <a:ext cx="128661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009641"/>
                </a:solidFill>
                <a:latin typeface="Aptos"/>
              </a:rPr>
              <a:t>[Good/Borderline]</a:t>
            </a:r>
          </a:p>
        </p:txBody>
      </p:sp>
      <p:cxnSp>
        <p:nvCxnSpPr>
          <p:cNvPr id="14" name="Connector 7"/>
          <p:cNvCxnSpPr>
            <a:cxnSpLocks/>
            <a:stCxn id="8" idx="2"/>
            <a:endCxn id="10" idx="0"/>
          </p:cNvCxnSpPr>
          <p:nvPr/>
        </p:nvCxnSpPr>
        <p:spPr>
          <a:xfrm>
            <a:off x="9758361" y="1565274"/>
            <a:ext cx="35050" cy="210153"/>
          </a:xfrm>
          <a:prstGeom prst="line">
            <a:avLst/>
          </a:prstGeom>
          <a:ln w="15240">
            <a:solidFill>
              <a:srgbClr val="194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8"/>
          <p:cNvCxnSpPr>
            <a:cxnSpLocks/>
            <a:endCxn id="17" idx="0"/>
          </p:cNvCxnSpPr>
          <p:nvPr/>
        </p:nvCxnSpPr>
        <p:spPr>
          <a:xfrm flipH="1">
            <a:off x="8605989" y="2050918"/>
            <a:ext cx="591546" cy="554921"/>
          </a:xfrm>
          <a:prstGeom prst="line">
            <a:avLst/>
          </a:prstGeom>
          <a:ln w="15240">
            <a:solidFill>
              <a:srgbClr val="FF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9"/>
          <p:cNvCxnSpPr>
            <a:cxnSpLocks/>
            <a:stCxn id="10" idx="3"/>
            <a:endCxn id="13" idx="0"/>
          </p:cNvCxnSpPr>
          <p:nvPr/>
        </p:nvCxnSpPr>
        <p:spPr>
          <a:xfrm>
            <a:off x="10441549" y="1919258"/>
            <a:ext cx="1106769" cy="377512"/>
          </a:xfrm>
          <a:prstGeom prst="line">
            <a:avLst/>
          </a:prstGeom>
          <a:ln w="15240">
            <a:solidFill>
              <a:srgbClr val="0096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0"/>
          <p:cNvSpPr/>
          <p:nvPr/>
        </p:nvSpPr>
        <p:spPr>
          <a:xfrm>
            <a:off x="7809097" y="2605839"/>
            <a:ext cx="1593784" cy="468288"/>
          </a:xfrm>
          <a:prstGeom prst="roundRect">
            <a:avLst/>
          </a:prstGeom>
          <a:solidFill>
            <a:srgbClr val="FFF2F2"/>
          </a:solidFill>
          <a:ln w="16510">
            <a:solidFill>
              <a:srgbClr val="FF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rgbClr val="2D2D37"/>
                </a:solidFill>
                <a:latin typeface="Aptos"/>
              </a:rPr>
              <a:t>Recapture Guidance
(Real-time, on-device)</a:t>
            </a:r>
          </a:p>
        </p:txBody>
      </p:sp>
      <p:sp>
        <p:nvSpPr>
          <p:cNvPr id="18" name="Rounded Rectangle 11"/>
          <p:cNvSpPr/>
          <p:nvPr/>
        </p:nvSpPr>
        <p:spPr>
          <a:xfrm>
            <a:off x="9709053" y="2579951"/>
            <a:ext cx="2116545" cy="227454"/>
          </a:xfrm>
          <a:prstGeom prst="roundRect">
            <a:avLst/>
          </a:prstGeom>
          <a:solidFill>
            <a:srgbClr val="F1F7FF"/>
          </a:solidFill>
          <a:ln w="16510">
            <a:solidFill>
              <a:srgbClr val="204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rgbClr val="2D2D37"/>
                </a:solidFill>
                <a:latin typeface="Aptos"/>
              </a:rPr>
              <a:t>CLAHE + Illum. Norm. + Denoise</a:t>
            </a:r>
          </a:p>
        </p:txBody>
      </p:sp>
      <p:sp>
        <p:nvSpPr>
          <p:cNvPr id="20" name="Rounded Rectangle 13"/>
          <p:cNvSpPr/>
          <p:nvPr/>
        </p:nvSpPr>
        <p:spPr>
          <a:xfrm>
            <a:off x="9709051" y="2992181"/>
            <a:ext cx="2116545" cy="227454"/>
          </a:xfrm>
          <a:prstGeom prst="roundRect">
            <a:avLst/>
          </a:prstGeom>
          <a:solidFill>
            <a:srgbClr val="F1F7FF"/>
          </a:solidFill>
          <a:ln w="16510">
            <a:solidFill>
              <a:srgbClr val="204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rgbClr val="2D2D37"/>
                </a:solidFill>
                <a:latin typeface="Aptos"/>
              </a:rPr>
              <a:t>DR Level 0–4 Prediction</a:t>
            </a:r>
          </a:p>
        </p:txBody>
      </p:sp>
      <p:sp>
        <p:nvSpPr>
          <p:cNvPr id="22" name="Rounded Rectangle 15"/>
          <p:cNvSpPr/>
          <p:nvPr/>
        </p:nvSpPr>
        <p:spPr>
          <a:xfrm>
            <a:off x="9711556" y="3356863"/>
            <a:ext cx="2116545" cy="227454"/>
          </a:xfrm>
          <a:prstGeom prst="roundRect">
            <a:avLst/>
          </a:prstGeom>
          <a:solidFill>
            <a:srgbClr val="F1F7FF"/>
          </a:solidFill>
          <a:ln w="16510">
            <a:solidFill>
              <a:srgbClr val="204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2D2D37"/>
                </a:solidFill>
                <a:latin typeface="Aptos"/>
              </a:rPr>
              <a:t>Lesion Detection (MA/HE/EX/NV)</a:t>
            </a:r>
          </a:p>
        </p:txBody>
      </p:sp>
      <p:sp>
        <p:nvSpPr>
          <p:cNvPr id="24" name="Rounded Rectangle 17"/>
          <p:cNvSpPr/>
          <p:nvPr/>
        </p:nvSpPr>
        <p:spPr>
          <a:xfrm>
            <a:off x="9709053" y="3769093"/>
            <a:ext cx="2116545" cy="227454"/>
          </a:xfrm>
          <a:prstGeom prst="roundRect">
            <a:avLst/>
          </a:prstGeom>
          <a:solidFill>
            <a:srgbClr val="F1F7FF"/>
          </a:solidFill>
          <a:ln w="16510">
            <a:solidFill>
              <a:srgbClr val="204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rgbClr val="2D2D37"/>
                </a:solidFill>
                <a:latin typeface="Aptos"/>
              </a:rPr>
              <a:t>Grad-CAM + Lesion Evidence</a:t>
            </a:r>
          </a:p>
        </p:txBody>
      </p:sp>
      <p:sp>
        <p:nvSpPr>
          <p:cNvPr id="26" name="Rounded Rectangle 19"/>
          <p:cNvSpPr/>
          <p:nvPr/>
        </p:nvSpPr>
        <p:spPr>
          <a:xfrm>
            <a:off x="9709052" y="4133642"/>
            <a:ext cx="2116545" cy="227454"/>
          </a:xfrm>
          <a:prstGeom prst="roundRect">
            <a:avLst/>
          </a:prstGeom>
          <a:solidFill>
            <a:srgbClr val="FFF7EF"/>
          </a:solidFill>
          <a:ln w="16510">
            <a:solidFill>
              <a:srgbClr val="E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 dirty="0">
                <a:solidFill>
                  <a:srgbClr val="2D2D37"/>
                </a:solidFill>
                <a:latin typeface="Aptos"/>
              </a:rPr>
              <a:t>AI Self-Validation (Check Overlap)</a:t>
            </a:r>
          </a:p>
        </p:txBody>
      </p:sp>
      <p:cxnSp>
        <p:nvCxnSpPr>
          <p:cNvPr id="27" name="Connector 20"/>
          <p:cNvCxnSpPr>
            <a:cxnSpLocks/>
            <a:endCxn id="18" idx="0"/>
          </p:cNvCxnSpPr>
          <p:nvPr/>
        </p:nvCxnSpPr>
        <p:spPr>
          <a:xfrm>
            <a:off x="10241118" y="2053199"/>
            <a:ext cx="526208" cy="526752"/>
          </a:xfrm>
          <a:prstGeom prst="line">
            <a:avLst/>
          </a:prstGeom>
          <a:ln w="15240">
            <a:solidFill>
              <a:srgbClr val="E5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1"/>
          <p:cNvSpPr/>
          <p:nvPr/>
        </p:nvSpPr>
        <p:spPr>
          <a:xfrm>
            <a:off x="8926257" y="4621807"/>
            <a:ext cx="1296277" cy="280973"/>
          </a:xfrm>
          <a:prstGeom prst="roundRect">
            <a:avLst/>
          </a:prstGeom>
          <a:solidFill>
            <a:srgbClr val="FFF7EF"/>
          </a:solidFill>
          <a:ln w="16510">
            <a:solidFill>
              <a:srgbClr val="E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37"/>
                </a:solidFill>
                <a:latin typeface="Aptos"/>
              </a:rPr>
              <a:t>Confidence &amp; Uncertainty Check</a:t>
            </a:r>
          </a:p>
        </p:txBody>
      </p:sp>
      <p:cxnSp>
        <p:nvCxnSpPr>
          <p:cNvPr id="30" name="Connector 22"/>
          <p:cNvCxnSpPr>
            <a:cxnSpLocks/>
            <a:stCxn id="26" idx="1"/>
            <a:endCxn id="28" idx="0"/>
          </p:cNvCxnSpPr>
          <p:nvPr/>
        </p:nvCxnSpPr>
        <p:spPr>
          <a:xfrm flipH="1">
            <a:off x="9574396" y="4247369"/>
            <a:ext cx="134656" cy="374438"/>
          </a:xfrm>
          <a:prstGeom prst="line">
            <a:avLst/>
          </a:prstGeom>
          <a:ln w="15240">
            <a:solidFill>
              <a:srgbClr val="E5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23"/>
          <p:cNvSpPr/>
          <p:nvPr/>
        </p:nvSpPr>
        <p:spPr>
          <a:xfrm>
            <a:off x="8956750" y="5053684"/>
            <a:ext cx="1020021" cy="280973"/>
          </a:xfrm>
          <a:prstGeom prst="roundRect">
            <a:avLst/>
          </a:prstGeom>
          <a:solidFill>
            <a:srgbClr val="F1F7FF"/>
          </a:solidFill>
          <a:ln w="16510">
            <a:solidFill>
              <a:srgbClr val="194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D2D37"/>
                </a:solidFill>
                <a:latin typeface="Aptos"/>
              </a:rPr>
              <a:t>Risk-Based Patient Triage</a:t>
            </a:r>
          </a:p>
        </p:txBody>
      </p:sp>
      <p:sp>
        <p:nvSpPr>
          <p:cNvPr id="33" name="Rounded Rectangle 25"/>
          <p:cNvSpPr/>
          <p:nvPr/>
        </p:nvSpPr>
        <p:spPr>
          <a:xfrm>
            <a:off x="8557711" y="5485954"/>
            <a:ext cx="1848789" cy="307732"/>
          </a:xfrm>
          <a:prstGeom prst="roundRect">
            <a:avLst/>
          </a:prstGeom>
          <a:solidFill>
            <a:srgbClr val="EFFFF5"/>
          </a:solidFill>
          <a:ln w="16510">
            <a:solidFill>
              <a:srgbClr val="009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009641"/>
                </a:solidFill>
                <a:latin typeface="Aptos"/>
              </a:rPr>
              <a:t>♟  Ophthalmologist Review (&lt;30 seconds)</a:t>
            </a:r>
          </a:p>
        </p:txBody>
      </p:sp>
      <p:cxnSp>
        <p:nvCxnSpPr>
          <p:cNvPr id="15369" name="Straight Connector 15368">
            <a:extLst>
              <a:ext uri="{FF2B5EF4-FFF2-40B4-BE49-F238E27FC236}">
                <a16:creationId xmlns:a16="http://schemas.microsoft.com/office/drawing/2014/main" id="{3434E955-0F7E-CC6F-1990-23223E7BA948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10767324" y="2820860"/>
            <a:ext cx="0" cy="1713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4" name="Straight Connector 15373">
            <a:extLst>
              <a:ext uri="{FF2B5EF4-FFF2-40B4-BE49-F238E27FC236}">
                <a16:creationId xmlns:a16="http://schemas.microsoft.com/office/drawing/2014/main" id="{A91F7160-5FCF-EBBA-AD7D-BBF9C4AE1E5A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flipH="1" flipV="1">
            <a:off x="10767324" y="3219635"/>
            <a:ext cx="2505" cy="1372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7" name="Straight Connector 15376">
            <a:extLst>
              <a:ext uri="{FF2B5EF4-FFF2-40B4-BE49-F238E27FC236}">
                <a16:creationId xmlns:a16="http://schemas.microsoft.com/office/drawing/2014/main" id="{0BE92A7A-EFE0-1B40-5821-BBE1BABC6B7A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10767326" y="3584317"/>
            <a:ext cx="2503" cy="184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0" name="Straight Connector 15379">
            <a:extLst>
              <a:ext uri="{FF2B5EF4-FFF2-40B4-BE49-F238E27FC236}">
                <a16:creationId xmlns:a16="http://schemas.microsoft.com/office/drawing/2014/main" id="{3513D0D3-058D-8268-2273-2922F37BE52D}"/>
              </a:ext>
            </a:extLst>
          </p:cNvPr>
          <p:cNvCxnSpPr>
            <a:cxnSpLocks/>
            <a:stCxn id="26" idx="0"/>
            <a:endCxn id="24" idx="2"/>
          </p:cNvCxnSpPr>
          <p:nvPr/>
        </p:nvCxnSpPr>
        <p:spPr>
          <a:xfrm flipV="1">
            <a:off x="10767325" y="3996547"/>
            <a:ext cx="1" cy="1370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2" name="Straight Connector 15391">
            <a:extLst>
              <a:ext uri="{FF2B5EF4-FFF2-40B4-BE49-F238E27FC236}">
                <a16:creationId xmlns:a16="http://schemas.microsoft.com/office/drawing/2014/main" id="{9B22BC82-68E8-D503-FD67-7045CD518465}"/>
              </a:ext>
            </a:extLst>
          </p:cNvPr>
          <p:cNvCxnSpPr>
            <a:cxnSpLocks/>
          </p:cNvCxnSpPr>
          <p:nvPr/>
        </p:nvCxnSpPr>
        <p:spPr>
          <a:xfrm>
            <a:off x="7632567" y="1199535"/>
            <a:ext cx="0" cy="49352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024339" y="198995"/>
            <a:ext cx="5632754" cy="53799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6A6648CD-764D-587B-45F6-9519DE99A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03" y="195261"/>
            <a:ext cx="415497" cy="369331"/>
          </a:xfrm>
          <a:prstGeom prst="rect">
            <a:avLst/>
          </a:prstGeom>
        </p:spPr>
      </p:pic>
      <p:sp>
        <p:nvSpPr>
          <p:cNvPr id="17437" name="Rounded Rectangle 7">
            <a:extLst>
              <a:ext uri="{FF2B5EF4-FFF2-40B4-BE49-F238E27FC236}">
                <a16:creationId xmlns:a16="http://schemas.microsoft.com/office/drawing/2014/main" id="{CA679CBE-52E2-CB4A-55FB-5079F6D725FF}"/>
              </a:ext>
            </a:extLst>
          </p:cNvPr>
          <p:cNvSpPr/>
          <p:nvPr/>
        </p:nvSpPr>
        <p:spPr>
          <a:xfrm>
            <a:off x="453174" y="897895"/>
            <a:ext cx="9090307" cy="54373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38" name="TextBox 8">
            <a:extLst>
              <a:ext uri="{FF2B5EF4-FFF2-40B4-BE49-F238E27FC236}">
                <a16:creationId xmlns:a16="http://schemas.microsoft.com/office/drawing/2014/main" id="{2CD88181-ACFB-C435-CB4B-52234EA20A6E}"/>
              </a:ext>
            </a:extLst>
          </p:cNvPr>
          <p:cNvSpPr txBox="1"/>
          <p:nvPr/>
        </p:nvSpPr>
        <p:spPr>
          <a:xfrm>
            <a:off x="608622" y="1043937"/>
            <a:ext cx="2716256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dirty="0">
                <a:latin typeface="Aptos"/>
              </a:rPr>
              <a:t>TECHNOLOGIES TO BE USED</a:t>
            </a:r>
          </a:p>
        </p:txBody>
      </p:sp>
      <p:sp>
        <p:nvSpPr>
          <p:cNvPr id="17439" name="TextBox 9">
            <a:extLst>
              <a:ext uri="{FF2B5EF4-FFF2-40B4-BE49-F238E27FC236}">
                <a16:creationId xmlns:a16="http://schemas.microsoft.com/office/drawing/2014/main" id="{8917BE71-6ABE-CF21-E534-60214B665774}"/>
              </a:ext>
            </a:extLst>
          </p:cNvPr>
          <p:cNvSpPr txBox="1"/>
          <p:nvPr/>
        </p:nvSpPr>
        <p:spPr>
          <a:xfrm>
            <a:off x="3747203" y="953548"/>
            <a:ext cx="5496785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b="0" dirty="0">
                <a:latin typeface="Aptos"/>
              </a:rPr>
              <a:t>MATLAB • </a:t>
            </a:r>
            <a:r>
              <a:rPr lang="en-US" sz="1400" b="0" dirty="0">
                <a:latin typeface="Aptos"/>
              </a:rPr>
              <a:t>Python • OpenCV • NumPy • Streamlit </a:t>
            </a:r>
          </a:p>
          <a:p>
            <a:pPr algn="ctr"/>
            <a:r>
              <a:rPr lang="en-US" sz="1400" b="0" dirty="0">
                <a:latin typeface="Aptos"/>
              </a:rPr>
              <a:t>MATLAB Coder / GPU Coder • ONNX • PWA / Edge Device</a:t>
            </a:r>
          </a:p>
        </p:txBody>
      </p:sp>
      <p:sp>
        <p:nvSpPr>
          <p:cNvPr id="17440" name="TextBox 10">
            <a:extLst>
              <a:ext uri="{FF2B5EF4-FFF2-40B4-BE49-F238E27FC236}">
                <a16:creationId xmlns:a16="http://schemas.microsoft.com/office/drawing/2014/main" id="{C30585E0-7376-A22E-E05C-4CDEDDB2CA66}"/>
              </a:ext>
            </a:extLst>
          </p:cNvPr>
          <p:cNvSpPr txBox="1"/>
          <p:nvPr/>
        </p:nvSpPr>
        <p:spPr>
          <a:xfrm>
            <a:off x="385088" y="1527538"/>
            <a:ext cx="4849020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dirty="0">
                <a:solidFill>
                  <a:srgbClr val="143452"/>
                </a:solidFill>
                <a:latin typeface="Aptos"/>
              </a:rPr>
              <a:t>METHODOLOGY &amp; PROCESS FOR IMPLEMENTATION</a:t>
            </a:r>
          </a:p>
        </p:txBody>
      </p:sp>
      <p:sp>
        <p:nvSpPr>
          <p:cNvPr id="17441" name="TextBox 11">
            <a:extLst>
              <a:ext uri="{FF2B5EF4-FFF2-40B4-BE49-F238E27FC236}">
                <a16:creationId xmlns:a16="http://schemas.microsoft.com/office/drawing/2014/main" id="{9FE86C86-C6A5-6971-91AA-0003FAA961B6}"/>
              </a:ext>
            </a:extLst>
          </p:cNvPr>
          <p:cNvSpPr txBox="1"/>
          <p:nvPr/>
        </p:nvSpPr>
        <p:spPr>
          <a:xfrm>
            <a:off x="410477" y="1753383"/>
            <a:ext cx="8027647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 dirty="0">
                <a:solidFill>
                  <a:srgbClr val="5F6972"/>
                </a:solidFill>
                <a:latin typeface="Aptos"/>
              </a:rPr>
              <a:t>Flow: acquisition → quality control → AI screening → explainability → validation → risk-based clinical triage</a:t>
            </a:r>
          </a:p>
        </p:txBody>
      </p:sp>
      <p:sp>
        <p:nvSpPr>
          <p:cNvPr id="17442" name="Rounded Rectangle 12">
            <a:extLst>
              <a:ext uri="{FF2B5EF4-FFF2-40B4-BE49-F238E27FC236}">
                <a16:creationId xmlns:a16="http://schemas.microsoft.com/office/drawing/2014/main" id="{32F0C2C8-E710-5F5F-473A-A3C76979EA1A}"/>
              </a:ext>
            </a:extLst>
          </p:cNvPr>
          <p:cNvSpPr/>
          <p:nvPr/>
        </p:nvSpPr>
        <p:spPr>
          <a:xfrm>
            <a:off x="453174" y="2060011"/>
            <a:ext cx="1490472" cy="66761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43" name="Oval 17442">
            <a:extLst>
              <a:ext uri="{FF2B5EF4-FFF2-40B4-BE49-F238E27FC236}">
                <a16:creationId xmlns:a16="http://schemas.microsoft.com/office/drawing/2014/main" id="{D519FDA1-F35B-BD8F-503B-842E44CDAB09}"/>
              </a:ext>
            </a:extLst>
          </p:cNvPr>
          <p:cNvSpPr/>
          <p:nvPr/>
        </p:nvSpPr>
        <p:spPr>
          <a:xfrm>
            <a:off x="517182" y="2124019"/>
            <a:ext cx="256032" cy="256032"/>
          </a:xfrm>
          <a:prstGeom prst="ellipse">
            <a:avLst/>
          </a:prstGeom>
          <a:solidFill>
            <a:srgbClr val="25A5C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444" name="TextBox 14">
            <a:extLst>
              <a:ext uri="{FF2B5EF4-FFF2-40B4-BE49-F238E27FC236}">
                <a16:creationId xmlns:a16="http://schemas.microsoft.com/office/drawing/2014/main" id="{6780CC7D-BC75-D0D0-9E47-1F1E57E8B930}"/>
              </a:ext>
            </a:extLst>
          </p:cNvPr>
          <p:cNvSpPr txBox="1"/>
          <p:nvPr/>
        </p:nvSpPr>
        <p:spPr>
          <a:xfrm>
            <a:off x="874021" y="2068775"/>
            <a:ext cx="932242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25A5C5"/>
                </a:solidFill>
                <a:latin typeface="Aptos"/>
              </a:rPr>
              <a:t>IMAGE
ACQUISITION</a:t>
            </a:r>
          </a:p>
        </p:txBody>
      </p:sp>
      <p:sp>
        <p:nvSpPr>
          <p:cNvPr id="17445" name="TextBox 15">
            <a:extLst>
              <a:ext uri="{FF2B5EF4-FFF2-40B4-BE49-F238E27FC236}">
                <a16:creationId xmlns:a16="http://schemas.microsoft.com/office/drawing/2014/main" id="{ECF4022B-FFA3-D8F6-2E18-A72DCD3DF97F}"/>
              </a:ext>
            </a:extLst>
          </p:cNvPr>
          <p:cNvSpPr txBox="1"/>
          <p:nvPr/>
        </p:nvSpPr>
        <p:spPr>
          <a:xfrm>
            <a:off x="543133" y="2464310"/>
            <a:ext cx="131055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Fundus image / PWA</a:t>
            </a:r>
          </a:p>
        </p:txBody>
      </p:sp>
      <p:cxnSp>
        <p:nvCxnSpPr>
          <p:cNvPr id="17446" name="Connector 16">
            <a:extLst>
              <a:ext uri="{FF2B5EF4-FFF2-40B4-BE49-F238E27FC236}">
                <a16:creationId xmlns:a16="http://schemas.microsoft.com/office/drawing/2014/main" id="{7BA89414-C62F-7446-7DB0-8024CC6386B9}"/>
              </a:ext>
            </a:extLst>
          </p:cNvPr>
          <p:cNvCxnSpPr>
            <a:cxnSpLocks/>
            <a:endCxn id="17448" idx="1"/>
          </p:cNvCxnSpPr>
          <p:nvPr/>
        </p:nvCxnSpPr>
        <p:spPr>
          <a:xfrm flipV="1">
            <a:off x="1957362" y="2393819"/>
            <a:ext cx="114300" cy="41097"/>
          </a:xfrm>
          <a:prstGeom prst="line">
            <a:avLst/>
          </a:prstGeom>
          <a:ln w="19050">
            <a:solidFill>
              <a:srgbClr val="25A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Isosceles Triangle 17446">
            <a:extLst>
              <a:ext uri="{FF2B5EF4-FFF2-40B4-BE49-F238E27FC236}">
                <a16:creationId xmlns:a16="http://schemas.microsoft.com/office/drawing/2014/main" id="{4FC683FC-009B-07D0-34A9-46CBD14898CD}"/>
              </a:ext>
            </a:extLst>
          </p:cNvPr>
          <p:cNvSpPr/>
          <p:nvPr/>
        </p:nvSpPr>
        <p:spPr>
          <a:xfrm rot="5400000">
            <a:off x="2012226" y="2380052"/>
            <a:ext cx="100584" cy="109728"/>
          </a:xfrm>
          <a:prstGeom prst="triangle">
            <a:avLst/>
          </a:prstGeom>
          <a:solidFill>
            <a:srgbClr val="25A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48" name="Rounded Rectangle 18">
            <a:extLst>
              <a:ext uri="{FF2B5EF4-FFF2-40B4-BE49-F238E27FC236}">
                <a16:creationId xmlns:a16="http://schemas.microsoft.com/office/drawing/2014/main" id="{5C4E50C2-93EA-A8DB-1396-9CCB6F948A61}"/>
              </a:ext>
            </a:extLst>
          </p:cNvPr>
          <p:cNvSpPr/>
          <p:nvPr/>
        </p:nvSpPr>
        <p:spPr>
          <a:xfrm>
            <a:off x="2071662" y="2060011"/>
            <a:ext cx="1490472" cy="667615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49" name="Oval 17448">
            <a:extLst>
              <a:ext uri="{FF2B5EF4-FFF2-40B4-BE49-F238E27FC236}">
                <a16:creationId xmlns:a16="http://schemas.microsoft.com/office/drawing/2014/main" id="{ABBFCA3C-0C5D-864C-81E3-DFF368CFB6E2}"/>
              </a:ext>
            </a:extLst>
          </p:cNvPr>
          <p:cNvSpPr/>
          <p:nvPr/>
        </p:nvSpPr>
        <p:spPr>
          <a:xfrm>
            <a:off x="2135670" y="2124019"/>
            <a:ext cx="256032" cy="256032"/>
          </a:xfrm>
          <a:prstGeom prst="ellipse">
            <a:avLst/>
          </a:prstGeom>
          <a:solidFill>
            <a:srgbClr val="E8770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b="1" dirty="0">
                <a:solidFill>
                  <a:srgbClr val="FFFFFF"/>
                </a:solidFill>
                <a:latin typeface="Aptos"/>
              </a:rPr>
              <a:t>2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450" name="TextBox 20">
            <a:extLst>
              <a:ext uri="{FF2B5EF4-FFF2-40B4-BE49-F238E27FC236}">
                <a16:creationId xmlns:a16="http://schemas.microsoft.com/office/drawing/2014/main" id="{5E651886-A34C-41F6-9C22-CEFB7D4064E6}"/>
              </a:ext>
            </a:extLst>
          </p:cNvPr>
          <p:cNvSpPr txBox="1"/>
          <p:nvPr/>
        </p:nvSpPr>
        <p:spPr>
          <a:xfrm>
            <a:off x="2652007" y="2068775"/>
            <a:ext cx="613245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E8770D"/>
                </a:solidFill>
                <a:latin typeface="Aptos"/>
              </a:rPr>
              <a:t>QUALITY
GATE</a:t>
            </a:r>
          </a:p>
        </p:txBody>
      </p:sp>
      <p:sp>
        <p:nvSpPr>
          <p:cNvPr id="17451" name="TextBox 21">
            <a:extLst>
              <a:ext uri="{FF2B5EF4-FFF2-40B4-BE49-F238E27FC236}">
                <a16:creationId xmlns:a16="http://schemas.microsoft.com/office/drawing/2014/main" id="{19B38FD0-C3E7-6D43-1306-B97EC0991447}"/>
              </a:ext>
            </a:extLst>
          </p:cNvPr>
          <p:cNvSpPr txBox="1"/>
          <p:nvPr/>
        </p:nvSpPr>
        <p:spPr>
          <a:xfrm>
            <a:off x="2237765" y="2464310"/>
            <a:ext cx="115826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Blur • FOV • Illum.</a:t>
            </a:r>
          </a:p>
        </p:txBody>
      </p:sp>
      <p:cxnSp>
        <p:nvCxnSpPr>
          <p:cNvPr id="17452" name="Connector 22">
            <a:extLst>
              <a:ext uri="{FF2B5EF4-FFF2-40B4-BE49-F238E27FC236}">
                <a16:creationId xmlns:a16="http://schemas.microsoft.com/office/drawing/2014/main" id="{D83D95E8-92B1-0A1D-1FBA-E6C110F7AC93}"/>
              </a:ext>
            </a:extLst>
          </p:cNvPr>
          <p:cNvCxnSpPr>
            <a:cxnSpLocks/>
            <a:endCxn id="17454" idx="1"/>
          </p:cNvCxnSpPr>
          <p:nvPr/>
        </p:nvCxnSpPr>
        <p:spPr>
          <a:xfrm flipV="1">
            <a:off x="3575850" y="2393819"/>
            <a:ext cx="114299" cy="41097"/>
          </a:xfrm>
          <a:prstGeom prst="line">
            <a:avLst/>
          </a:prstGeom>
          <a:ln w="19050">
            <a:solidFill>
              <a:srgbClr val="25A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Isosceles Triangle 17452">
            <a:extLst>
              <a:ext uri="{FF2B5EF4-FFF2-40B4-BE49-F238E27FC236}">
                <a16:creationId xmlns:a16="http://schemas.microsoft.com/office/drawing/2014/main" id="{59F569A2-70DF-303F-B671-ED1FA6A36176}"/>
              </a:ext>
            </a:extLst>
          </p:cNvPr>
          <p:cNvSpPr/>
          <p:nvPr/>
        </p:nvSpPr>
        <p:spPr>
          <a:xfrm rot="5400000">
            <a:off x="3630713" y="2380052"/>
            <a:ext cx="100584" cy="109728"/>
          </a:xfrm>
          <a:prstGeom prst="triangle">
            <a:avLst/>
          </a:prstGeom>
          <a:solidFill>
            <a:srgbClr val="25A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54" name="Rounded Rectangle 24">
            <a:extLst>
              <a:ext uri="{FF2B5EF4-FFF2-40B4-BE49-F238E27FC236}">
                <a16:creationId xmlns:a16="http://schemas.microsoft.com/office/drawing/2014/main" id="{E7F1AD13-D5C7-C2CE-2F25-74B2E9604F7C}"/>
              </a:ext>
            </a:extLst>
          </p:cNvPr>
          <p:cNvSpPr/>
          <p:nvPr/>
        </p:nvSpPr>
        <p:spPr>
          <a:xfrm>
            <a:off x="3690149" y="2060011"/>
            <a:ext cx="1490472" cy="667615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55" name="Oval 17454">
            <a:extLst>
              <a:ext uri="{FF2B5EF4-FFF2-40B4-BE49-F238E27FC236}">
                <a16:creationId xmlns:a16="http://schemas.microsoft.com/office/drawing/2014/main" id="{4E342716-C148-5C83-E79E-852EADCB261B}"/>
              </a:ext>
            </a:extLst>
          </p:cNvPr>
          <p:cNvSpPr/>
          <p:nvPr/>
        </p:nvSpPr>
        <p:spPr>
          <a:xfrm>
            <a:off x="3754158" y="2124019"/>
            <a:ext cx="256032" cy="256032"/>
          </a:xfrm>
          <a:prstGeom prst="ellipse">
            <a:avLst/>
          </a:prstGeom>
          <a:solidFill>
            <a:srgbClr val="25A5C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456" name="TextBox 26">
            <a:extLst>
              <a:ext uri="{FF2B5EF4-FFF2-40B4-BE49-F238E27FC236}">
                <a16:creationId xmlns:a16="http://schemas.microsoft.com/office/drawing/2014/main" id="{A08CC95C-8DF4-BBA2-3402-4A18A8D40C96}"/>
              </a:ext>
            </a:extLst>
          </p:cNvPr>
          <p:cNvSpPr txBox="1"/>
          <p:nvPr/>
        </p:nvSpPr>
        <p:spPr>
          <a:xfrm>
            <a:off x="4107790" y="2153413"/>
            <a:ext cx="93865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25A5C5"/>
                </a:solidFill>
                <a:latin typeface="Aptos"/>
              </a:rPr>
              <a:t>PREPROCESS</a:t>
            </a:r>
          </a:p>
        </p:txBody>
      </p:sp>
      <p:sp>
        <p:nvSpPr>
          <p:cNvPr id="17457" name="TextBox 27">
            <a:extLst>
              <a:ext uri="{FF2B5EF4-FFF2-40B4-BE49-F238E27FC236}">
                <a16:creationId xmlns:a16="http://schemas.microsoft.com/office/drawing/2014/main" id="{6A530EF9-1A1E-B48B-A201-796127A1BC0E}"/>
              </a:ext>
            </a:extLst>
          </p:cNvPr>
          <p:cNvSpPr txBox="1"/>
          <p:nvPr/>
        </p:nvSpPr>
        <p:spPr>
          <a:xfrm>
            <a:off x="3879495" y="2464310"/>
            <a:ext cx="11117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CLAHE • Denoise</a:t>
            </a:r>
          </a:p>
        </p:txBody>
      </p:sp>
      <p:cxnSp>
        <p:nvCxnSpPr>
          <p:cNvPr id="17458" name="Connector 28">
            <a:extLst>
              <a:ext uri="{FF2B5EF4-FFF2-40B4-BE49-F238E27FC236}">
                <a16:creationId xmlns:a16="http://schemas.microsoft.com/office/drawing/2014/main" id="{73A65AD3-6F11-6737-B185-01B427BEA20F}"/>
              </a:ext>
            </a:extLst>
          </p:cNvPr>
          <p:cNvCxnSpPr/>
          <p:nvPr/>
        </p:nvCxnSpPr>
        <p:spPr>
          <a:xfrm>
            <a:off x="5194337" y="2434916"/>
            <a:ext cx="82296" cy="0"/>
          </a:xfrm>
          <a:prstGeom prst="line">
            <a:avLst/>
          </a:prstGeom>
          <a:ln w="19050">
            <a:solidFill>
              <a:srgbClr val="25A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Isosceles Triangle 17458">
            <a:extLst>
              <a:ext uri="{FF2B5EF4-FFF2-40B4-BE49-F238E27FC236}">
                <a16:creationId xmlns:a16="http://schemas.microsoft.com/office/drawing/2014/main" id="{CB54B112-988F-F3B2-2AD1-66C0EC4E22D6}"/>
              </a:ext>
            </a:extLst>
          </p:cNvPr>
          <p:cNvSpPr/>
          <p:nvPr/>
        </p:nvSpPr>
        <p:spPr>
          <a:xfrm rot="5400000">
            <a:off x="5249201" y="2380052"/>
            <a:ext cx="100584" cy="109728"/>
          </a:xfrm>
          <a:prstGeom prst="triangle">
            <a:avLst/>
          </a:prstGeom>
          <a:solidFill>
            <a:srgbClr val="25A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60" name="Rounded Rectangle 30">
            <a:extLst>
              <a:ext uri="{FF2B5EF4-FFF2-40B4-BE49-F238E27FC236}">
                <a16:creationId xmlns:a16="http://schemas.microsoft.com/office/drawing/2014/main" id="{85BCA8A6-F66B-B04A-81C1-D1CC6C5E01FB}"/>
              </a:ext>
            </a:extLst>
          </p:cNvPr>
          <p:cNvSpPr/>
          <p:nvPr/>
        </p:nvSpPr>
        <p:spPr>
          <a:xfrm>
            <a:off x="5308638" y="2060011"/>
            <a:ext cx="1490472" cy="667615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61" name="Oval 17460">
            <a:extLst>
              <a:ext uri="{FF2B5EF4-FFF2-40B4-BE49-F238E27FC236}">
                <a16:creationId xmlns:a16="http://schemas.microsoft.com/office/drawing/2014/main" id="{A9511807-83CC-E8B1-ACE9-BE5BE822DD00}"/>
              </a:ext>
            </a:extLst>
          </p:cNvPr>
          <p:cNvSpPr/>
          <p:nvPr/>
        </p:nvSpPr>
        <p:spPr>
          <a:xfrm>
            <a:off x="5372646" y="2124019"/>
            <a:ext cx="256032" cy="256032"/>
          </a:xfrm>
          <a:prstGeom prst="ellipse">
            <a:avLst/>
          </a:prstGeom>
          <a:solidFill>
            <a:srgbClr val="6791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462" name="TextBox 32">
            <a:extLst>
              <a:ext uri="{FF2B5EF4-FFF2-40B4-BE49-F238E27FC236}">
                <a16:creationId xmlns:a16="http://schemas.microsoft.com/office/drawing/2014/main" id="{DDF6F0EB-5C9C-48AD-A034-FD10E04D2D60}"/>
              </a:ext>
            </a:extLst>
          </p:cNvPr>
          <p:cNvSpPr txBox="1"/>
          <p:nvPr/>
        </p:nvSpPr>
        <p:spPr>
          <a:xfrm>
            <a:off x="5844901" y="2068775"/>
            <a:ext cx="701409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679130"/>
                </a:solidFill>
                <a:latin typeface="Aptos"/>
              </a:rPr>
              <a:t>RETINAL
ANALYSIS</a:t>
            </a:r>
          </a:p>
        </p:txBody>
      </p:sp>
      <p:sp>
        <p:nvSpPr>
          <p:cNvPr id="17463" name="TextBox 33">
            <a:extLst>
              <a:ext uri="{FF2B5EF4-FFF2-40B4-BE49-F238E27FC236}">
                <a16:creationId xmlns:a16="http://schemas.microsoft.com/office/drawing/2014/main" id="{5CB1F2BC-6F47-B52A-23B3-24A5B3B2639B}"/>
              </a:ext>
            </a:extLst>
          </p:cNvPr>
          <p:cNvSpPr txBox="1"/>
          <p:nvPr/>
        </p:nvSpPr>
        <p:spPr>
          <a:xfrm>
            <a:off x="5292800" y="2464310"/>
            <a:ext cx="152214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Vessels • Disc • Lesions</a:t>
            </a:r>
          </a:p>
        </p:txBody>
      </p:sp>
      <p:cxnSp>
        <p:nvCxnSpPr>
          <p:cNvPr id="17464" name="Connector 34">
            <a:extLst>
              <a:ext uri="{FF2B5EF4-FFF2-40B4-BE49-F238E27FC236}">
                <a16:creationId xmlns:a16="http://schemas.microsoft.com/office/drawing/2014/main" id="{C70F2A4E-4BAA-A4F5-C822-B8F01009C5CB}"/>
              </a:ext>
            </a:extLst>
          </p:cNvPr>
          <p:cNvCxnSpPr/>
          <p:nvPr/>
        </p:nvCxnSpPr>
        <p:spPr>
          <a:xfrm>
            <a:off x="6812826" y="2434916"/>
            <a:ext cx="82296" cy="0"/>
          </a:xfrm>
          <a:prstGeom prst="line">
            <a:avLst/>
          </a:prstGeom>
          <a:ln w="19050">
            <a:solidFill>
              <a:srgbClr val="25A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5" name="Isosceles Triangle 17464">
            <a:extLst>
              <a:ext uri="{FF2B5EF4-FFF2-40B4-BE49-F238E27FC236}">
                <a16:creationId xmlns:a16="http://schemas.microsoft.com/office/drawing/2014/main" id="{184AA725-99B2-8AB7-D2EE-F94663B395FC}"/>
              </a:ext>
            </a:extLst>
          </p:cNvPr>
          <p:cNvSpPr/>
          <p:nvPr/>
        </p:nvSpPr>
        <p:spPr>
          <a:xfrm rot="5400000">
            <a:off x="6867690" y="2380052"/>
            <a:ext cx="100584" cy="109728"/>
          </a:xfrm>
          <a:prstGeom prst="triangle">
            <a:avLst/>
          </a:prstGeom>
          <a:solidFill>
            <a:srgbClr val="25A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66" name="Rounded Rectangle 36">
            <a:extLst>
              <a:ext uri="{FF2B5EF4-FFF2-40B4-BE49-F238E27FC236}">
                <a16:creationId xmlns:a16="http://schemas.microsoft.com/office/drawing/2014/main" id="{FA84AE9F-1CAC-1EBC-BB1F-7C495C5FFE78}"/>
              </a:ext>
            </a:extLst>
          </p:cNvPr>
          <p:cNvSpPr/>
          <p:nvPr/>
        </p:nvSpPr>
        <p:spPr>
          <a:xfrm>
            <a:off x="6927126" y="2060011"/>
            <a:ext cx="1490472" cy="667615"/>
          </a:xfrm>
          <a:prstGeom prst="roundRect">
            <a:avLst/>
          </a:prstGeom>
          <a:solidFill>
            <a:srgbClr val="F6F8F9"/>
          </a:solidFill>
          <a:ln w="13970">
            <a:solidFill>
              <a:srgbClr val="14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67" name="Oval 17466">
            <a:extLst>
              <a:ext uri="{FF2B5EF4-FFF2-40B4-BE49-F238E27FC236}">
                <a16:creationId xmlns:a16="http://schemas.microsoft.com/office/drawing/2014/main" id="{E951E2B3-9636-158C-50BB-B6B41EF1950A}"/>
              </a:ext>
            </a:extLst>
          </p:cNvPr>
          <p:cNvSpPr/>
          <p:nvPr/>
        </p:nvSpPr>
        <p:spPr>
          <a:xfrm>
            <a:off x="6981302" y="2124019"/>
            <a:ext cx="256032" cy="256032"/>
          </a:xfrm>
          <a:prstGeom prst="ellipse">
            <a:avLst/>
          </a:prstGeom>
          <a:solidFill>
            <a:srgbClr val="1434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468" name="TextBox 38">
            <a:extLst>
              <a:ext uri="{FF2B5EF4-FFF2-40B4-BE49-F238E27FC236}">
                <a16:creationId xmlns:a16="http://schemas.microsoft.com/office/drawing/2014/main" id="{45B16738-D50E-484B-8880-CB81347C2159}"/>
              </a:ext>
            </a:extLst>
          </p:cNvPr>
          <p:cNvSpPr txBox="1"/>
          <p:nvPr/>
        </p:nvSpPr>
        <p:spPr>
          <a:xfrm>
            <a:off x="7407283" y="2068775"/>
            <a:ext cx="813621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143452"/>
                </a:solidFill>
                <a:latin typeface="Aptos"/>
              </a:rPr>
              <a:t>DR
CLASSIFIER</a:t>
            </a:r>
          </a:p>
        </p:txBody>
      </p:sp>
      <p:sp>
        <p:nvSpPr>
          <p:cNvPr id="17469" name="TextBox 39">
            <a:extLst>
              <a:ext uri="{FF2B5EF4-FFF2-40B4-BE49-F238E27FC236}">
                <a16:creationId xmlns:a16="http://schemas.microsoft.com/office/drawing/2014/main" id="{7F9EF3F5-68A1-3354-3DE9-BEDD8B727F07}"/>
              </a:ext>
            </a:extLst>
          </p:cNvPr>
          <p:cNvSpPr txBox="1"/>
          <p:nvPr/>
        </p:nvSpPr>
        <p:spPr>
          <a:xfrm>
            <a:off x="7126090" y="2464310"/>
            <a:ext cx="109254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CNN • Grade 0–4</a:t>
            </a:r>
          </a:p>
        </p:txBody>
      </p:sp>
      <p:cxnSp>
        <p:nvCxnSpPr>
          <p:cNvPr id="17470" name="Connector 40">
            <a:extLst>
              <a:ext uri="{FF2B5EF4-FFF2-40B4-BE49-F238E27FC236}">
                <a16:creationId xmlns:a16="http://schemas.microsoft.com/office/drawing/2014/main" id="{A701B5AF-5BD1-7D2B-7024-0565E007E1AA}"/>
              </a:ext>
            </a:extLst>
          </p:cNvPr>
          <p:cNvCxnSpPr/>
          <p:nvPr/>
        </p:nvCxnSpPr>
        <p:spPr>
          <a:xfrm>
            <a:off x="8431314" y="2434916"/>
            <a:ext cx="82296" cy="0"/>
          </a:xfrm>
          <a:prstGeom prst="line">
            <a:avLst/>
          </a:prstGeom>
          <a:ln w="19050">
            <a:solidFill>
              <a:srgbClr val="25A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Isosceles Triangle 17470">
            <a:extLst>
              <a:ext uri="{FF2B5EF4-FFF2-40B4-BE49-F238E27FC236}">
                <a16:creationId xmlns:a16="http://schemas.microsoft.com/office/drawing/2014/main" id="{68344C26-F168-9C9C-3C0E-CB1B42E6DA1A}"/>
              </a:ext>
            </a:extLst>
          </p:cNvPr>
          <p:cNvSpPr/>
          <p:nvPr/>
        </p:nvSpPr>
        <p:spPr>
          <a:xfrm rot="5400000">
            <a:off x="8486178" y="2380052"/>
            <a:ext cx="100584" cy="109728"/>
          </a:xfrm>
          <a:prstGeom prst="triangle">
            <a:avLst/>
          </a:prstGeom>
          <a:solidFill>
            <a:srgbClr val="25A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72" name="Rounded Rectangle 42">
            <a:extLst>
              <a:ext uri="{FF2B5EF4-FFF2-40B4-BE49-F238E27FC236}">
                <a16:creationId xmlns:a16="http://schemas.microsoft.com/office/drawing/2014/main" id="{C12A9EA6-56B0-A8B7-F4B2-350132D4500C}"/>
              </a:ext>
            </a:extLst>
          </p:cNvPr>
          <p:cNvSpPr/>
          <p:nvPr/>
        </p:nvSpPr>
        <p:spPr>
          <a:xfrm>
            <a:off x="8545614" y="2060011"/>
            <a:ext cx="1490472" cy="667615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73" name="Oval 17472">
            <a:extLst>
              <a:ext uri="{FF2B5EF4-FFF2-40B4-BE49-F238E27FC236}">
                <a16:creationId xmlns:a16="http://schemas.microsoft.com/office/drawing/2014/main" id="{57C07EB7-2C92-B2DF-BD57-A137B1ED81F9}"/>
              </a:ext>
            </a:extLst>
          </p:cNvPr>
          <p:cNvSpPr/>
          <p:nvPr/>
        </p:nvSpPr>
        <p:spPr>
          <a:xfrm>
            <a:off x="8609622" y="2124019"/>
            <a:ext cx="256032" cy="256032"/>
          </a:xfrm>
          <a:prstGeom prst="ellipse">
            <a:avLst/>
          </a:prstGeom>
          <a:solidFill>
            <a:srgbClr val="E8770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7474" name="TextBox 44">
            <a:extLst>
              <a:ext uri="{FF2B5EF4-FFF2-40B4-BE49-F238E27FC236}">
                <a16:creationId xmlns:a16="http://schemas.microsoft.com/office/drawing/2014/main" id="{1BAE615E-A6C5-210B-78C2-117C13C151F0}"/>
              </a:ext>
            </a:extLst>
          </p:cNvPr>
          <p:cNvSpPr txBox="1"/>
          <p:nvPr/>
        </p:nvSpPr>
        <p:spPr>
          <a:xfrm>
            <a:off x="8911157" y="2068775"/>
            <a:ext cx="1042850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E8770D"/>
                </a:solidFill>
                <a:latin typeface="Aptos"/>
              </a:rPr>
              <a:t>XAI +
SELF-VALIDATE</a:t>
            </a:r>
          </a:p>
        </p:txBody>
      </p:sp>
      <p:sp>
        <p:nvSpPr>
          <p:cNvPr id="17475" name="TextBox 45">
            <a:extLst>
              <a:ext uri="{FF2B5EF4-FFF2-40B4-BE49-F238E27FC236}">
                <a16:creationId xmlns:a16="http://schemas.microsoft.com/office/drawing/2014/main" id="{5CB4718D-9DCD-4B0C-10F8-6EC204072D10}"/>
              </a:ext>
            </a:extLst>
          </p:cNvPr>
          <p:cNvSpPr txBox="1"/>
          <p:nvPr/>
        </p:nvSpPr>
        <p:spPr>
          <a:xfrm>
            <a:off x="8613934" y="2464310"/>
            <a:ext cx="135383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Grad-CAM ↔ Lesions</a:t>
            </a:r>
          </a:p>
        </p:txBody>
      </p:sp>
      <p:cxnSp>
        <p:nvCxnSpPr>
          <p:cNvPr id="17476" name="Connector 46">
            <a:extLst>
              <a:ext uri="{FF2B5EF4-FFF2-40B4-BE49-F238E27FC236}">
                <a16:creationId xmlns:a16="http://schemas.microsoft.com/office/drawing/2014/main" id="{C3293A7E-10DC-DF40-1237-FF8CFEAF4344}"/>
              </a:ext>
            </a:extLst>
          </p:cNvPr>
          <p:cNvCxnSpPr/>
          <p:nvPr/>
        </p:nvCxnSpPr>
        <p:spPr>
          <a:xfrm>
            <a:off x="10049802" y="2434916"/>
            <a:ext cx="82296" cy="0"/>
          </a:xfrm>
          <a:prstGeom prst="line">
            <a:avLst/>
          </a:prstGeom>
          <a:ln w="19050">
            <a:solidFill>
              <a:srgbClr val="25A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Isosceles Triangle 17476">
            <a:extLst>
              <a:ext uri="{FF2B5EF4-FFF2-40B4-BE49-F238E27FC236}">
                <a16:creationId xmlns:a16="http://schemas.microsoft.com/office/drawing/2014/main" id="{AD533D24-D332-A254-B846-CE079C31E56F}"/>
              </a:ext>
            </a:extLst>
          </p:cNvPr>
          <p:cNvSpPr/>
          <p:nvPr/>
        </p:nvSpPr>
        <p:spPr>
          <a:xfrm rot="5400000">
            <a:off x="10104666" y="2380052"/>
            <a:ext cx="100584" cy="109728"/>
          </a:xfrm>
          <a:prstGeom prst="triangle">
            <a:avLst/>
          </a:prstGeom>
          <a:solidFill>
            <a:srgbClr val="25A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78" name="Rounded Rectangle 48">
            <a:extLst>
              <a:ext uri="{FF2B5EF4-FFF2-40B4-BE49-F238E27FC236}">
                <a16:creationId xmlns:a16="http://schemas.microsoft.com/office/drawing/2014/main" id="{F19BC4D8-D84C-6A6C-A948-3FF53D3B7BC9}"/>
              </a:ext>
            </a:extLst>
          </p:cNvPr>
          <p:cNvSpPr/>
          <p:nvPr/>
        </p:nvSpPr>
        <p:spPr>
          <a:xfrm>
            <a:off x="10164102" y="2060011"/>
            <a:ext cx="1490472" cy="667615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79" name="Oval 17478">
            <a:extLst>
              <a:ext uri="{FF2B5EF4-FFF2-40B4-BE49-F238E27FC236}">
                <a16:creationId xmlns:a16="http://schemas.microsoft.com/office/drawing/2014/main" id="{EE1E8707-509C-4BAC-E9CB-E60A28EC22F6}"/>
              </a:ext>
            </a:extLst>
          </p:cNvPr>
          <p:cNvSpPr/>
          <p:nvPr/>
        </p:nvSpPr>
        <p:spPr>
          <a:xfrm>
            <a:off x="10228110" y="2124019"/>
            <a:ext cx="256032" cy="256032"/>
          </a:xfrm>
          <a:prstGeom prst="ellipse">
            <a:avLst/>
          </a:prstGeom>
          <a:solidFill>
            <a:srgbClr val="6791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7480" name="TextBox 50">
            <a:extLst>
              <a:ext uri="{FF2B5EF4-FFF2-40B4-BE49-F238E27FC236}">
                <a16:creationId xmlns:a16="http://schemas.microsoft.com/office/drawing/2014/main" id="{BF44DEA2-A227-347F-F0FF-5B2F49C92DA5}"/>
              </a:ext>
            </a:extLst>
          </p:cNvPr>
          <p:cNvSpPr txBox="1"/>
          <p:nvPr/>
        </p:nvSpPr>
        <p:spPr>
          <a:xfrm>
            <a:off x="10580941" y="2068775"/>
            <a:ext cx="940257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679130"/>
                </a:solidFill>
                <a:latin typeface="Aptos"/>
              </a:rPr>
              <a:t>CONFIDENCE
+ TRIAGE</a:t>
            </a:r>
          </a:p>
        </p:txBody>
      </p:sp>
      <p:sp>
        <p:nvSpPr>
          <p:cNvPr id="17481" name="TextBox 51">
            <a:extLst>
              <a:ext uri="{FF2B5EF4-FFF2-40B4-BE49-F238E27FC236}">
                <a16:creationId xmlns:a16="http://schemas.microsoft.com/office/drawing/2014/main" id="{0ADB8A3F-9F1A-9732-584D-43BE10E19111}"/>
              </a:ext>
            </a:extLst>
          </p:cNvPr>
          <p:cNvSpPr txBox="1"/>
          <p:nvPr/>
        </p:nvSpPr>
        <p:spPr>
          <a:xfrm>
            <a:off x="10437606" y="2464310"/>
            <a:ext cx="94346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Calibrated risk</a:t>
            </a:r>
          </a:p>
        </p:txBody>
      </p:sp>
      <p:sp>
        <p:nvSpPr>
          <p:cNvPr id="17482" name="Rounded Rectangle 52">
            <a:extLst>
              <a:ext uri="{FF2B5EF4-FFF2-40B4-BE49-F238E27FC236}">
                <a16:creationId xmlns:a16="http://schemas.microsoft.com/office/drawing/2014/main" id="{62245A25-46BB-BE83-539D-AA31014BEE55}"/>
              </a:ext>
            </a:extLst>
          </p:cNvPr>
          <p:cNvSpPr/>
          <p:nvPr/>
        </p:nvSpPr>
        <p:spPr>
          <a:xfrm>
            <a:off x="447318" y="2862931"/>
            <a:ext cx="3399257" cy="49181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83" name="TextBox 53">
            <a:extLst>
              <a:ext uri="{FF2B5EF4-FFF2-40B4-BE49-F238E27FC236}">
                <a16:creationId xmlns:a16="http://schemas.microsoft.com/office/drawing/2014/main" id="{57C21ED7-D3EB-A84A-D215-33B6F0EB8397}"/>
              </a:ext>
            </a:extLst>
          </p:cNvPr>
          <p:cNvSpPr txBox="1"/>
          <p:nvPr/>
        </p:nvSpPr>
        <p:spPr>
          <a:xfrm>
            <a:off x="578513" y="2913223"/>
            <a:ext cx="308961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BE4945"/>
                </a:solidFill>
                <a:latin typeface="Aptos"/>
              </a:rPr>
              <a:t>FAIL QUALITY GATE → RECAPTURE GUIDANCE</a:t>
            </a:r>
          </a:p>
        </p:txBody>
      </p:sp>
      <p:sp>
        <p:nvSpPr>
          <p:cNvPr id="17484" name="TextBox 54">
            <a:extLst>
              <a:ext uri="{FF2B5EF4-FFF2-40B4-BE49-F238E27FC236}">
                <a16:creationId xmlns:a16="http://schemas.microsoft.com/office/drawing/2014/main" id="{8ECBA9E9-9D44-6CE9-5A5F-CCFE0D84E50B}"/>
              </a:ext>
            </a:extLst>
          </p:cNvPr>
          <p:cNvSpPr txBox="1"/>
          <p:nvPr/>
        </p:nvSpPr>
        <p:spPr>
          <a:xfrm>
            <a:off x="623914" y="3102962"/>
            <a:ext cx="3106665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 dirty="0">
                <a:solidFill>
                  <a:srgbClr val="5F6972"/>
                </a:solidFill>
                <a:latin typeface="Aptos"/>
              </a:rPr>
              <a:t>focus • camera position • lighting correction</a:t>
            </a:r>
          </a:p>
        </p:txBody>
      </p:sp>
      <p:sp>
        <p:nvSpPr>
          <p:cNvPr id="17485" name="Rounded Rectangle 55">
            <a:extLst>
              <a:ext uri="{FF2B5EF4-FFF2-40B4-BE49-F238E27FC236}">
                <a16:creationId xmlns:a16="http://schemas.microsoft.com/office/drawing/2014/main" id="{055C46B5-CF01-1B73-671F-FCC0001659F1}"/>
              </a:ext>
            </a:extLst>
          </p:cNvPr>
          <p:cNvSpPr/>
          <p:nvPr/>
        </p:nvSpPr>
        <p:spPr>
          <a:xfrm>
            <a:off x="3956304" y="2862931"/>
            <a:ext cx="7765625" cy="49181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86" name="TextBox 56">
            <a:extLst>
              <a:ext uri="{FF2B5EF4-FFF2-40B4-BE49-F238E27FC236}">
                <a16:creationId xmlns:a16="http://schemas.microsoft.com/office/drawing/2014/main" id="{2E308482-3090-CE6E-6BCA-D38E7E9F1687}"/>
              </a:ext>
            </a:extLst>
          </p:cNvPr>
          <p:cNvSpPr txBox="1"/>
          <p:nvPr/>
        </p:nvSpPr>
        <p:spPr>
          <a:xfrm>
            <a:off x="4402957" y="2965955"/>
            <a:ext cx="1487329" cy="270843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dirty="0">
                <a:latin typeface="Aptos"/>
              </a:rPr>
              <a:t>SELF-AWARE XAI</a:t>
            </a:r>
          </a:p>
        </p:txBody>
      </p:sp>
      <p:sp>
        <p:nvSpPr>
          <p:cNvPr id="17487" name="TextBox 57">
            <a:extLst>
              <a:ext uri="{FF2B5EF4-FFF2-40B4-BE49-F238E27FC236}">
                <a16:creationId xmlns:a16="http://schemas.microsoft.com/office/drawing/2014/main" id="{7B1C2626-3370-5D73-5F16-E2C476DE3590}"/>
              </a:ext>
            </a:extLst>
          </p:cNvPr>
          <p:cNvSpPr txBox="1"/>
          <p:nvPr/>
        </p:nvSpPr>
        <p:spPr>
          <a:xfrm>
            <a:off x="6466649" y="2991394"/>
            <a:ext cx="4426400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dirty="0">
                <a:latin typeface="Aptos"/>
              </a:rPr>
              <a:t>Predict → Explain → Compare with lesion evidence → Validate</a:t>
            </a:r>
          </a:p>
        </p:txBody>
      </p:sp>
      <p:sp>
        <p:nvSpPr>
          <p:cNvPr id="17488" name="TextBox 58">
            <a:extLst>
              <a:ext uri="{FF2B5EF4-FFF2-40B4-BE49-F238E27FC236}">
                <a16:creationId xmlns:a16="http://schemas.microsoft.com/office/drawing/2014/main" id="{FC043767-B7FF-07FF-57A7-22DFE14EFA66}"/>
              </a:ext>
            </a:extLst>
          </p:cNvPr>
          <p:cNvSpPr txBox="1"/>
          <p:nvPr/>
        </p:nvSpPr>
        <p:spPr>
          <a:xfrm>
            <a:off x="346613" y="3458922"/>
            <a:ext cx="4832798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dirty="0">
                <a:solidFill>
                  <a:srgbClr val="143452"/>
                </a:solidFill>
                <a:latin typeface="Aptos"/>
              </a:rPr>
              <a:t>WORKING PROTOTYPE / THREE OPERATING MODES</a:t>
            </a:r>
          </a:p>
        </p:txBody>
      </p:sp>
      <p:sp>
        <p:nvSpPr>
          <p:cNvPr id="17489" name="Rounded Rectangle 59">
            <a:extLst>
              <a:ext uri="{FF2B5EF4-FFF2-40B4-BE49-F238E27FC236}">
                <a16:creationId xmlns:a16="http://schemas.microsoft.com/office/drawing/2014/main" id="{41A0FC6A-7532-B66D-842B-3C24439F3F9D}"/>
              </a:ext>
            </a:extLst>
          </p:cNvPr>
          <p:cNvSpPr/>
          <p:nvPr/>
        </p:nvSpPr>
        <p:spPr>
          <a:xfrm>
            <a:off x="399288" y="3803520"/>
            <a:ext cx="3621024" cy="75228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90" name="TextBox 60">
            <a:extLst>
              <a:ext uri="{FF2B5EF4-FFF2-40B4-BE49-F238E27FC236}">
                <a16:creationId xmlns:a16="http://schemas.microsoft.com/office/drawing/2014/main" id="{FABF4F6F-1BA1-1211-DEFF-52907B99CA37}"/>
              </a:ext>
            </a:extLst>
          </p:cNvPr>
          <p:cNvSpPr txBox="1"/>
          <p:nvPr/>
        </p:nvSpPr>
        <p:spPr>
          <a:xfrm>
            <a:off x="509016" y="3828342"/>
            <a:ext cx="55874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25A5C5"/>
                </a:solidFill>
                <a:latin typeface="Aptos"/>
              </a:rPr>
              <a:t>MODE 1</a:t>
            </a:r>
          </a:p>
        </p:txBody>
      </p:sp>
      <p:sp>
        <p:nvSpPr>
          <p:cNvPr id="17491" name="TextBox 61">
            <a:extLst>
              <a:ext uri="{FF2B5EF4-FFF2-40B4-BE49-F238E27FC236}">
                <a16:creationId xmlns:a16="http://schemas.microsoft.com/office/drawing/2014/main" id="{9D271722-ACB1-47C4-F653-EC3FC054CE87}"/>
              </a:ext>
            </a:extLst>
          </p:cNvPr>
          <p:cNvSpPr txBox="1"/>
          <p:nvPr/>
        </p:nvSpPr>
        <p:spPr>
          <a:xfrm>
            <a:off x="1537013" y="3825834"/>
            <a:ext cx="1337290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dirty="0">
                <a:solidFill>
                  <a:srgbClr val="25A5C5"/>
                </a:solidFill>
                <a:latin typeface="Aptos"/>
              </a:rPr>
              <a:t>IMAGE QUALITY</a:t>
            </a:r>
          </a:p>
        </p:txBody>
      </p:sp>
      <p:sp>
        <p:nvSpPr>
          <p:cNvPr id="17492" name="TextBox 62">
            <a:extLst>
              <a:ext uri="{FF2B5EF4-FFF2-40B4-BE49-F238E27FC236}">
                <a16:creationId xmlns:a16="http://schemas.microsoft.com/office/drawing/2014/main" id="{F49B173F-C04B-E4ED-20F5-BBF667784511}"/>
              </a:ext>
            </a:extLst>
          </p:cNvPr>
          <p:cNvSpPr txBox="1"/>
          <p:nvPr/>
        </p:nvSpPr>
        <p:spPr>
          <a:xfrm>
            <a:off x="656842" y="4066085"/>
            <a:ext cx="310591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Input → Quality Check → Enhancement / Recapture</a:t>
            </a:r>
          </a:p>
        </p:txBody>
      </p:sp>
      <p:sp>
        <p:nvSpPr>
          <p:cNvPr id="17493" name="TextBox 63">
            <a:extLst>
              <a:ext uri="{FF2B5EF4-FFF2-40B4-BE49-F238E27FC236}">
                <a16:creationId xmlns:a16="http://schemas.microsoft.com/office/drawing/2014/main" id="{6C4FCA6C-90FC-74BB-E74B-DD3B6C9D3301}"/>
              </a:ext>
            </a:extLst>
          </p:cNvPr>
          <p:cNvSpPr txBox="1"/>
          <p:nvPr/>
        </p:nvSpPr>
        <p:spPr>
          <a:xfrm>
            <a:off x="1447123" y="4280970"/>
            <a:ext cx="152535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5F6972"/>
                </a:solidFill>
                <a:latin typeface="Aptos"/>
              </a:rPr>
              <a:t>OUTPUT: Usable image</a:t>
            </a:r>
          </a:p>
        </p:txBody>
      </p:sp>
      <p:sp>
        <p:nvSpPr>
          <p:cNvPr id="17494" name="Rounded Rectangle 64">
            <a:extLst>
              <a:ext uri="{FF2B5EF4-FFF2-40B4-BE49-F238E27FC236}">
                <a16:creationId xmlns:a16="http://schemas.microsoft.com/office/drawing/2014/main" id="{87040EE6-68AA-6346-1CC8-F572F881375F}"/>
              </a:ext>
            </a:extLst>
          </p:cNvPr>
          <p:cNvSpPr/>
          <p:nvPr/>
        </p:nvSpPr>
        <p:spPr>
          <a:xfrm>
            <a:off x="4285488" y="3803520"/>
            <a:ext cx="3621024" cy="752283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14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495" name="TextBox 65">
            <a:extLst>
              <a:ext uri="{FF2B5EF4-FFF2-40B4-BE49-F238E27FC236}">
                <a16:creationId xmlns:a16="http://schemas.microsoft.com/office/drawing/2014/main" id="{CEA325F1-F5CE-0109-2894-CDBDD00299FB}"/>
              </a:ext>
            </a:extLst>
          </p:cNvPr>
          <p:cNvSpPr txBox="1"/>
          <p:nvPr/>
        </p:nvSpPr>
        <p:spPr>
          <a:xfrm>
            <a:off x="4395216" y="3828342"/>
            <a:ext cx="55874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143452"/>
                </a:solidFill>
                <a:latin typeface="Aptos"/>
              </a:rPr>
              <a:t>MODE 2</a:t>
            </a:r>
          </a:p>
        </p:txBody>
      </p:sp>
      <p:sp>
        <p:nvSpPr>
          <p:cNvPr id="17496" name="TextBox 66">
            <a:extLst>
              <a:ext uri="{FF2B5EF4-FFF2-40B4-BE49-F238E27FC236}">
                <a16:creationId xmlns:a16="http://schemas.microsoft.com/office/drawing/2014/main" id="{EBA51D6C-9C85-0FBC-ACDE-03F4300B6FFD}"/>
              </a:ext>
            </a:extLst>
          </p:cNvPr>
          <p:cNvSpPr txBox="1"/>
          <p:nvPr/>
        </p:nvSpPr>
        <p:spPr>
          <a:xfrm>
            <a:off x="5462480" y="3855755"/>
            <a:ext cx="1249637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dirty="0">
                <a:solidFill>
                  <a:srgbClr val="143452"/>
                </a:solidFill>
                <a:latin typeface="Aptos"/>
              </a:rPr>
              <a:t>AI SCREENING</a:t>
            </a:r>
          </a:p>
        </p:txBody>
      </p:sp>
      <p:sp>
        <p:nvSpPr>
          <p:cNvPr id="17497" name="TextBox 67">
            <a:extLst>
              <a:ext uri="{FF2B5EF4-FFF2-40B4-BE49-F238E27FC236}">
                <a16:creationId xmlns:a16="http://schemas.microsoft.com/office/drawing/2014/main" id="{C264A774-D70E-E58D-B990-27BE9D238F05}"/>
              </a:ext>
            </a:extLst>
          </p:cNvPr>
          <p:cNvSpPr txBox="1"/>
          <p:nvPr/>
        </p:nvSpPr>
        <p:spPr>
          <a:xfrm>
            <a:off x="4643230" y="4066085"/>
            <a:ext cx="290553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Preprocess → Segmentation → CNN → DR Grade</a:t>
            </a:r>
          </a:p>
        </p:txBody>
      </p:sp>
      <p:sp>
        <p:nvSpPr>
          <p:cNvPr id="17498" name="TextBox 68">
            <a:extLst>
              <a:ext uri="{FF2B5EF4-FFF2-40B4-BE49-F238E27FC236}">
                <a16:creationId xmlns:a16="http://schemas.microsoft.com/office/drawing/2014/main" id="{95DD669D-6A5D-371B-F50D-0AC9B6C66A27}"/>
              </a:ext>
            </a:extLst>
          </p:cNvPr>
          <p:cNvSpPr txBox="1"/>
          <p:nvPr/>
        </p:nvSpPr>
        <p:spPr>
          <a:xfrm>
            <a:off x="5023943" y="4280970"/>
            <a:ext cx="214411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5F6972"/>
                </a:solidFill>
                <a:latin typeface="Aptos"/>
              </a:rPr>
              <a:t>OUTPUT: Grade 0–4 + confidence</a:t>
            </a:r>
          </a:p>
        </p:txBody>
      </p:sp>
      <p:sp>
        <p:nvSpPr>
          <p:cNvPr id="17499" name="Rounded Rectangle 69">
            <a:extLst>
              <a:ext uri="{FF2B5EF4-FFF2-40B4-BE49-F238E27FC236}">
                <a16:creationId xmlns:a16="http://schemas.microsoft.com/office/drawing/2014/main" id="{0559ADD3-AB70-BB7E-E026-B85998A44CC2}"/>
              </a:ext>
            </a:extLst>
          </p:cNvPr>
          <p:cNvSpPr/>
          <p:nvPr/>
        </p:nvSpPr>
        <p:spPr>
          <a:xfrm>
            <a:off x="8171688" y="3803520"/>
            <a:ext cx="3621024" cy="75228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500" name="TextBox 70">
            <a:extLst>
              <a:ext uri="{FF2B5EF4-FFF2-40B4-BE49-F238E27FC236}">
                <a16:creationId xmlns:a16="http://schemas.microsoft.com/office/drawing/2014/main" id="{B6C5B99F-FFB6-DB39-B9DF-B80B98B242E2}"/>
              </a:ext>
            </a:extLst>
          </p:cNvPr>
          <p:cNvSpPr txBox="1"/>
          <p:nvPr/>
        </p:nvSpPr>
        <p:spPr>
          <a:xfrm>
            <a:off x="8281416" y="3828342"/>
            <a:ext cx="55874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E8770D"/>
                </a:solidFill>
                <a:latin typeface="Aptos"/>
              </a:rPr>
              <a:t>MODE 3</a:t>
            </a:r>
          </a:p>
        </p:txBody>
      </p:sp>
      <p:sp>
        <p:nvSpPr>
          <p:cNvPr id="17501" name="TextBox 71">
            <a:extLst>
              <a:ext uri="{FF2B5EF4-FFF2-40B4-BE49-F238E27FC236}">
                <a16:creationId xmlns:a16="http://schemas.microsoft.com/office/drawing/2014/main" id="{5D32FAA9-2CFC-6737-596B-4D1D228BDEED}"/>
              </a:ext>
            </a:extLst>
          </p:cNvPr>
          <p:cNvSpPr txBox="1"/>
          <p:nvPr/>
        </p:nvSpPr>
        <p:spPr>
          <a:xfrm>
            <a:off x="9016823" y="3814607"/>
            <a:ext cx="2058770" cy="270843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dirty="0">
                <a:solidFill>
                  <a:srgbClr val="E8770D"/>
                </a:solidFill>
                <a:latin typeface="Aptos"/>
              </a:rPr>
              <a:t>EXPLAINABLE REFERRAL</a:t>
            </a:r>
          </a:p>
        </p:txBody>
      </p:sp>
      <p:sp>
        <p:nvSpPr>
          <p:cNvPr id="17502" name="TextBox 72">
            <a:extLst>
              <a:ext uri="{FF2B5EF4-FFF2-40B4-BE49-F238E27FC236}">
                <a16:creationId xmlns:a16="http://schemas.microsoft.com/office/drawing/2014/main" id="{E5A8B421-649B-EB1B-EFCA-10F01E279DDB}"/>
              </a:ext>
            </a:extLst>
          </p:cNvPr>
          <p:cNvSpPr txBox="1"/>
          <p:nvPr/>
        </p:nvSpPr>
        <p:spPr>
          <a:xfrm>
            <a:off x="8474928" y="4066085"/>
            <a:ext cx="301454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232A30"/>
                </a:solidFill>
                <a:latin typeface="Aptos"/>
              </a:rPr>
              <a:t>Prediction → Grad-CAM → Self-Validation → Triage</a:t>
            </a:r>
          </a:p>
        </p:txBody>
      </p:sp>
      <p:sp>
        <p:nvSpPr>
          <p:cNvPr id="17503" name="TextBox 73">
            <a:extLst>
              <a:ext uri="{FF2B5EF4-FFF2-40B4-BE49-F238E27FC236}">
                <a16:creationId xmlns:a16="http://schemas.microsoft.com/office/drawing/2014/main" id="{9C3E6C77-80FA-8304-A2AB-84E01D6FA56B}"/>
              </a:ext>
            </a:extLst>
          </p:cNvPr>
          <p:cNvSpPr txBox="1"/>
          <p:nvPr/>
        </p:nvSpPr>
        <p:spPr>
          <a:xfrm>
            <a:off x="8812361" y="4280970"/>
            <a:ext cx="233967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5F6972"/>
                </a:solidFill>
                <a:latin typeface="Aptos"/>
              </a:rPr>
              <a:t>OUTPUT: Evidence + referral priority</a:t>
            </a:r>
          </a:p>
        </p:txBody>
      </p:sp>
      <p:sp>
        <p:nvSpPr>
          <p:cNvPr id="17504" name="TextBox 74">
            <a:extLst>
              <a:ext uri="{FF2B5EF4-FFF2-40B4-BE49-F238E27FC236}">
                <a16:creationId xmlns:a16="http://schemas.microsoft.com/office/drawing/2014/main" id="{F0F8CFCA-E9D8-B5EB-A544-B2050F15D395}"/>
              </a:ext>
            </a:extLst>
          </p:cNvPr>
          <p:cNvSpPr txBox="1"/>
          <p:nvPr/>
        </p:nvSpPr>
        <p:spPr>
          <a:xfrm>
            <a:off x="413149" y="4670371"/>
            <a:ext cx="4027385" cy="30162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dirty="0">
                <a:solidFill>
                  <a:srgbClr val="143452"/>
                </a:solidFill>
                <a:latin typeface="Aptos"/>
              </a:rPr>
              <a:t>RISK-BASED TRIAGE &amp; HUMAN OVERSIGHT</a:t>
            </a:r>
          </a:p>
        </p:txBody>
      </p:sp>
      <p:sp>
        <p:nvSpPr>
          <p:cNvPr id="17505" name="Rounded Rectangle 75">
            <a:extLst>
              <a:ext uri="{FF2B5EF4-FFF2-40B4-BE49-F238E27FC236}">
                <a16:creationId xmlns:a16="http://schemas.microsoft.com/office/drawing/2014/main" id="{35CA1028-C266-2AA4-03B3-E3169C089C6D}"/>
              </a:ext>
            </a:extLst>
          </p:cNvPr>
          <p:cNvSpPr/>
          <p:nvPr/>
        </p:nvSpPr>
        <p:spPr>
          <a:xfrm>
            <a:off x="531491" y="4990717"/>
            <a:ext cx="3291512" cy="464383"/>
          </a:xfrm>
          <a:prstGeom prst="roundRect">
            <a:avLst/>
          </a:prstGeom>
          <a:solidFill>
            <a:srgbClr val="EEF7DE"/>
          </a:solidFill>
          <a:ln w="12700">
            <a:solidFill>
              <a:srgbClr val="67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506" name="Oval 17505">
            <a:extLst>
              <a:ext uri="{FF2B5EF4-FFF2-40B4-BE49-F238E27FC236}">
                <a16:creationId xmlns:a16="http://schemas.microsoft.com/office/drawing/2014/main" id="{472BE29C-0CDD-6A78-CCE3-ABBA518CD635}"/>
              </a:ext>
            </a:extLst>
          </p:cNvPr>
          <p:cNvSpPr/>
          <p:nvPr/>
        </p:nvSpPr>
        <p:spPr>
          <a:xfrm>
            <a:off x="656842" y="5126459"/>
            <a:ext cx="236359" cy="192898"/>
          </a:xfrm>
          <a:prstGeom prst="ellipse">
            <a:avLst/>
          </a:prstGeom>
          <a:solidFill>
            <a:srgbClr val="6791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507" name="TextBox 77">
            <a:extLst>
              <a:ext uri="{FF2B5EF4-FFF2-40B4-BE49-F238E27FC236}">
                <a16:creationId xmlns:a16="http://schemas.microsoft.com/office/drawing/2014/main" id="{58C6078C-83AA-986D-A340-060CE89F6963}"/>
              </a:ext>
            </a:extLst>
          </p:cNvPr>
          <p:cNvSpPr txBox="1"/>
          <p:nvPr/>
        </p:nvSpPr>
        <p:spPr>
          <a:xfrm>
            <a:off x="892834" y="5128351"/>
            <a:ext cx="1607441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dirty="0">
                <a:solidFill>
                  <a:srgbClr val="679130"/>
                </a:solidFill>
                <a:latin typeface="Aptos"/>
              </a:rPr>
              <a:t>CONFIDENT NORMAL</a:t>
            </a:r>
          </a:p>
        </p:txBody>
      </p:sp>
      <p:sp>
        <p:nvSpPr>
          <p:cNvPr id="17508" name="TextBox 78">
            <a:extLst>
              <a:ext uri="{FF2B5EF4-FFF2-40B4-BE49-F238E27FC236}">
                <a16:creationId xmlns:a16="http://schemas.microsoft.com/office/drawing/2014/main" id="{591009D1-2137-A9C2-25FD-D0DFF469EA7C}"/>
              </a:ext>
            </a:extLst>
          </p:cNvPr>
          <p:cNvSpPr txBox="1"/>
          <p:nvPr/>
        </p:nvSpPr>
        <p:spPr>
          <a:xfrm>
            <a:off x="2598122" y="5126582"/>
            <a:ext cx="1095756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232A30"/>
                </a:solidFill>
                <a:latin typeface="Aptos"/>
              </a:rPr>
              <a:t>AUTO-CLEAR</a:t>
            </a:r>
          </a:p>
        </p:txBody>
      </p:sp>
      <p:sp>
        <p:nvSpPr>
          <p:cNvPr id="17509" name="Rounded Rectangle 79">
            <a:extLst>
              <a:ext uri="{FF2B5EF4-FFF2-40B4-BE49-F238E27FC236}">
                <a16:creationId xmlns:a16="http://schemas.microsoft.com/office/drawing/2014/main" id="{1F63D862-2637-BAC3-92CE-19570C8767D3}"/>
              </a:ext>
            </a:extLst>
          </p:cNvPr>
          <p:cNvSpPr/>
          <p:nvPr/>
        </p:nvSpPr>
        <p:spPr>
          <a:xfrm>
            <a:off x="4216523" y="4990717"/>
            <a:ext cx="3291512" cy="464383"/>
          </a:xfrm>
          <a:prstGeom prst="roundRect">
            <a:avLst/>
          </a:prstGeom>
          <a:solidFill>
            <a:srgbClr val="FFF9E2"/>
          </a:solidFill>
          <a:ln w="12700">
            <a:solidFill>
              <a:srgbClr val="CD9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510" name="Oval 17509">
            <a:extLst>
              <a:ext uri="{FF2B5EF4-FFF2-40B4-BE49-F238E27FC236}">
                <a16:creationId xmlns:a16="http://schemas.microsoft.com/office/drawing/2014/main" id="{18786AAD-6465-83CE-6014-1D7FFA407831}"/>
              </a:ext>
            </a:extLst>
          </p:cNvPr>
          <p:cNvSpPr/>
          <p:nvPr/>
        </p:nvSpPr>
        <p:spPr>
          <a:xfrm>
            <a:off x="4335395" y="5137021"/>
            <a:ext cx="236359" cy="192898"/>
          </a:xfrm>
          <a:prstGeom prst="ellipse">
            <a:avLst/>
          </a:prstGeom>
          <a:solidFill>
            <a:srgbClr val="CD9F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7511" name="TextBox 81">
            <a:extLst>
              <a:ext uri="{FF2B5EF4-FFF2-40B4-BE49-F238E27FC236}">
                <a16:creationId xmlns:a16="http://schemas.microsoft.com/office/drawing/2014/main" id="{8AE41D19-5C32-BC23-2D76-02A604F8A612}"/>
              </a:ext>
            </a:extLst>
          </p:cNvPr>
          <p:cNvSpPr txBox="1"/>
          <p:nvPr/>
        </p:nvSpPr>
        <p:spPr>
          <a:xfrm>
            <a:off x="4276344" y="5023978"/>
            <a:ext cx="1710445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dirty="0">
                <a:solidFill>
                  <a:srgbClr val="CD9F26"/>
                </a:solidFill>
                <a:latin typeface="Aptos"/>
              </a:rPr>
              <a:t>UNCERTAIN / BORDERLINE</a:t>
            </a:r>
          </a:p>
        </p:txBody>
      </p:sp>
      <p:sp>
        <p:nvSpPr>
          <p:cNvPr id="17512" name="TextBox 82">
            <a:extLst>
              <a:ext uri="{FF2B5EF4-FFF2-40B4-BE49-F238E27FC236}">
                <a16:creationId xmlns:a16="http://schemas.microsoft.com/office/drawing/2014/main" id="{246C1FE7-3B44-2D6E-EEE3-76D13643D557}"/>
              </a:ext>
            </a:extLst>
          </p:cNvPr>
          <p:cNvSpPr txBox="1"/>
          <p:nvPr/>
        </p:nvSpPr>
        <p:spPr>
          <a:xfrm>
            <a:off x="5574792" y="5126582"/>
            <a:ext cx="204686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232A30"/>
                </a:solidFill>
                <a:latin typeface="Aptos"/>
              </a:rPr>
              <a:t>PRIORITY DOCTOR REVIEW</a:t>
            </a:r>
          </a:p>
        </p:txBody>
      </p:sp>
      <p:sp>
        <p:nvSpPr>
          <p:cNvPr id="17513" name="Rounded Rectangle 83">
            <a:extLst>
              <a:ext uri="{FF2B5EF4-FFF2-40B4-BE49-F238E27FC236}">
                <a16:creationId xmlns:a16="http://schemas.microsoft.com/office/drawing/2014/main" id="{366DB73E-0D89-3A32-9442-94FB3A66FB5B}"/>
              </a:ext>
            </a:extLst>
          </p:cNvPr>
          <p:cNvSpPr/>
          <p:nvPr/>
        </p:nvSpPr>
        <p:spPr>
          <a:xfrm>
            <a:off x="7901554" y="4990717"/>
            <a:ext cx="3291512" cy="464383"/>
          </a:xfrm>
          <a:prstGeom prst="roundRect">
            <a:avLst/>
          </a:prstGeom>
          <a:solidFill>
            <a:srgbClr val="FCEAE9"/>
          </a:solidFill>
          <a:ln w="12700">
            <a:solidFill>
              <a:srgbClr val="BE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514" name="Oval 17513">
            <a:extLst>
              <a:ext uri="{FF2B5EF4-FFF2-40B4-BE49-F238E27FC236}">
                <a16:creationId xmlns:a16="http://schemas.microsoft.com/office/drawing/2014/main" id="{CF7FBA0C-83F7-004E-3798-649C7BFDC5EB}"/>
              </a:ext>
            </a:extLst>
          </p:cNvPr>
          <p:cNvSpPr/>
          <p:nvPr/>
        </p:nvSpPr>
        <p:spPr>
          <a:xfrm>
            <a:off x="7984545" y="5105963"/>
            <a:ext cx="236359" cy="192898"/>
          </a:xfrm>
          <a:prstGeom prst="ellipse">
            <a:avLst/>
          </a:prstGeom>
          <a:solidFill>
            <a:srgbClr val="BE49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7515" name="TextBox 85">
            <a:extLst>
              <a:ext uri="{FF2B5EF4-FFF2-40B4-BE49-F238E27FC236}">
                <a16:creationId xmlns:a16="http://schemas.microsoft.com/office/drawing/2014/main" id="{2D418E82-3FF2-EFA5-201D-AEF2BADC3E7D}"/>
              </a:ext>
            </a:extLst>
          </p:cNvPr>
          <p:cNvSpPr txBox="1"/>
          <p:nvPr/>
        </p:nvSpPr>
        <p:spPr>
          <a:xfrm>
            <a:off x="8164747" y="5049688"/>
            <a:ext cx="1541635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dirty="0">
                <a:solidFill>
                  <a:srgbClr val="BE4945"/>
                </a:solidFill>
                <a:latin typeface="Aptos"/>
              </a:rPr>
              <a:t>REFERABLE / HIGH-RISK</a:t>
            </a:r>
          </a:p>
        </p:txBody>
      </p:sp>
      <p:sp>
        <p:nvSpPr>
          <p:cNvPr id="17516" name="TextBox 86">
            <a:extLst>
              <a:ext uri="{FF2B5EF4-FFF2-40B4-BE49-F238E27FC236}">
                <a16:creationId xmlns:a16="http://schemas.microsoft.com/office/drawing/2014/main" id="{0B775F23-8C64-6149-23F3-8AC3E7D8BBF5}"/>
              </a:ext>
            </a:extLst>
          </p:cNvPr>
          <p:cNvSpPr txBox="1"/>
          <p:nvPr/>
        </p:nvSpPr>
        <p:spPr>
          <a:xfrm>
            <a:off x="9633719" y="5126582"/>
            <a:ext cx="151832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232A30"/>
                </a:solidFill>
                <a:latin typeface="Aptos"/>
              </a:rPr>
              <a:t>SPECIALIST REFERRAL</a:t>
            </a:r>
          </a:p>
        </p:txBody>
      </p:sp>
      <p:sp>
        <p:nvSpPr>
          <p:cNvPr id="17517" name="Rounded Rectangle 87">
            <a:extLst>
              <a:ext uri="{FF2B5EF4-FFF2-40B4-BE49-F238E27FC236}">
                <a16:creationId xmlns:a16="http://schemas.microsoft.com/office/drawing/2014/main" id="{03288D6D-3587-1B83-CF96-9F416B064EA4}"/>
              </a:ext>
            </a:extLst>
          </p:cNvPr>
          <p:cNvSpPr/>
          <p:nvPr/>
        </p:nvSpPr>
        <p:spPr>
          <a:xfrm>
            <a:off x="399288" y="5630843"/>
            <a:ext cx="6903720" cy="576072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CD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518" name="TextBox 88">
            <a:extLst>
              <a:ext uri="{FF2B5EF4-FFF2-40B4-BE49-F238E27FC236}">
                <a16:creationId xmlns:a16="http://schemas.microsoft.com/office/drawing/2014/main" id="{C6D8797C-A6AA-DA0E-BDDE-6368C3CE039B}"/>
              </a:ext>
            </a:extLst>
          </p:cNvPr>
          <p:cNvSpPr txBox="1"/>
          <p:nvPr/>
        </p:nvSpPr>
        <p:spPr>
          <a:xfrm>
            <a:off x="534672" y="5861405"/>
            <a:ext cx="141795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143452"/>
                </a:solidFill>
                <a:latin typeface="Aptos"/>
              </a:rPr>
              <a:t>TECHNOLOGY LAYER</a:t>
            </a:r>
          </a:p>
        </p:txBody>
      </p:sp>
      <p:sp>
        <p:nvSpPr>
          <p:cNvPr id="17519" name="TextBox 89">
            <a:extLst>
              <a:ext uri="{FF2B5EF4-FFF2-40B4-BE49-F238E27FC236}">
                <a16:creationId xmlns:a16="http://schemas.microsoft.com/office/drawing/2014/main" id="{8257924A-8289-C120-AE03-C0ECED64A176}"/>
              </a:ext>
            </a:extLst>
          </p:cNvPr>
          <p:cNvSpPr txBox="1"/>
          <p:nvPr/>
        </p:nvSpPr>
        <p:spPr>
          <a:xfrm>
            <a:off x="1732576" y="5664809"/>
            <a:ext cx="552644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232A30"/>
                </a:solidFill>
                <a:latin typeface="Aptos"/>
              </a:rPr>
              <a:t>MATLAB Toolboxes • Python/OpenCV • Streamlit UI • CNN/XAI • ONNX Edge Inference</a:t>
            </a:r>
          </a:p>
        </p:txBody>
      </p:sp>
      <p:sp>
        <p:nvSpPr>
          <p:cNvPr id="17520" name="TextBox 90">
            <a:extLst>
              <a:ext uri="{FF2B5EF4-FFF2-40B4-BE49-F238E27FC236}">
                <a16:creationId xmlns:a16="http://schemas.microsoft.com/office/drawing/2014/main" id="{62AE4BD9-D496-10B6-4FBF-B208EC906DFC}"/>
              </a:ext>
            </a:extLst>
          </p:cNvPr>
          <p:cNvSpPr txBox="1"/>
          <p:nvPr/>
        </p:nvSpPr>
        <p:spPr>
          <a:xfrm>
            <a:off x="2296031" y="5861405"/>
            <a:ext cx="439953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 dirty="0">
                <a:solidFill>
                  <a:srgbClr val="5F6972"/>
                </a:solidFill>
                <a:latin typeface="Aptos"/>
              </a:rPr>
              <a:t>Image Processing • Computer Vision • Deep Learning • Medical Imaging</a:t>
            </a:r>
          </a:p>
        </p:txBody>
      </p:sp>
      <p:sp>
        <p:nvSpPr>
          <p:cNvPr id="17521" name="Rounded Rectangle 91">
            <a:extLst>
              <a:ext uri="{FF2B5EF4-FFF2-40B4-BE49-F238E27FC236}">
                <a16:creationId xmlns:a16="http://schemas.microsoft.com/office/drawing/2014/main" id="{90D19827-F9FD-A42E-ACCE-4BA0F08E224A}"/>
              </a:ext>
            </a:extLst>
          </p:cNvPr>
          <p:cNvSpPr/>
          <p:nvPr/>
        </p:nvSpPr>
        <p:spPr>
          <a:xfrm>
            <a:off x="7458455" y="5630843"/>
            <a:ext cx="4233672" cy="576072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CD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17522" name="TextBox 92">
            <a:extLst>
              <a:ext uri="{FF2B5EF4-FFF2-40B4-BE49-F238E27FC236}">
                <a16:creationId xmlns:a16="http://schemas.microsoft.com/office/drawing/2014/main" id="{37C84F11-E377-FD1D-77EE-62E3B879F2E3}"/>
              </a:ext>
            </a:extLst>
          </p:cNvPr>
          <p:cNvSpPr txBox="1"/>
          <p:nvPr/>
        </p:nvSpPr>
        <p:spPr>
          <a:xfrm>
            <a:off x="8685175" y="5664809"/>
            <a:ext cx="178023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143452"/>
                </a:solidFill>
                <a:latin typeface="Aptos"/>
              </a:rPr>
              <a:t>IMPLEMENTATION OUTPUT</a:t>
            </a:r>
          </a:p>
        </p:txBody>
      </p:sp>
      <p:sp>
        <p:nvSpPr>
          <p:cNvPr id="17523" name="TextBox 93">
            <a:extLst>
              <a:ext uri="{FF2B5EF4-FFF2-40B4-BE49-F238E27FC236}">
                <a16:creationId xmlns:a16="http://schemas.microsoft.com/office/drawing/2014/main" id="{53C3404F-97D2-AB65-E96C-B86A6160D838}"/>
              </a:ext>
            </a:extLst>
          </p:cNvPr>
          <p:cNvSpPr txBox="1"/>
          <p:nvPr/>
        </p:nvSpPr>
        <p:spPr>
          <a:xfrm>
            <a:off x="7746617" y="5861405"/>
            <a:ext cx="365734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 dirty="0">
                <a:solidFill>
                  <a:srgbClr val="232A30"/>
                </a:solidFill>
                <a:latin typeface="Aptos"/>
              </a:rPr>
              <a:t>Edge screening • multilingual report • telemedicine sync</a:t>
            </a:r>
          </a:p>
        </p:txBody>
      </p:sp>
      <p:sp>
        <p:nvSpPr>
          <p:cNvPr id="17529" name="TextBox 17528">
            <a:extLst>
              <a:ext uri="{FF2B5EF4-FFF2-40B4-BE49-F238E27FC236}">
                <a16:creationId xmlns:a16="http://schemas.microsoft.com/office/drawing/2014/main" id="{EE2AB995-E62C-9F1D-1401-580DE963318F}"/>
              </a:ext>
            </a:extLst>
          </p:cNvPr>
          <p:cNvSpPr txBox="1"/>
          <p:nvPr/>
        </p:nvSpPr>
        <p:spPr>
          <a:xfrm>
            <a:off x="742950" y="176212"/>
            <a:ext cx="146270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E3A8A"/>
                </a:solidFill>
                <a:latin typeface="Plus Jakarta Sans"/>
              </a:rPr>
              <a:t>NetraSense</a:t>
            </a:r>
            <a:endParaRPr sz="1650" b="1" i="0" u="none" dirty="0">
              <a:solidFill>
                <a:srgbClr val="1E3A8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76250" y="7532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96F2F8B-CCE5-4639-6167-7276A8CD70A7}"/>
              </a:ext>
            </a:extLst>
          </p:cNvPr>
          <p:cNvSpPr txBox="1"/>
          <p:nvPr/>
        </p:nvSpPr>
        <p:spPr>
          <a:xfrm>
            <a:off x="-737419" y="4522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C79E5E-8EEC-46BC-1C23-4E657BDD9789}"/>
              </a:ext>
            </a:extLst>
          </p:cNvPr>
          <p:cNvSpPr/>
          <p:nvPr/>
        </p:nvSpPr>
        <p:spPr>
          <a:xfrm>
            <a:off x="232203" y="1343017"/>
            <a:ext cx="3684330" cy="44515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1E3A8A"/>
                </a:solidFill>
                <a:latin typeface="Merriweather"/>
              </a:rPr>
              <a:t>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0F172A"/>
              </a:solidFill>
              <a:latin typeface="Plus Jakarta San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Technology Ready:</a:t>
            </a:r>
            <a:r>
              <a:rPr lang="en-IN" sz="1600" dirty="0"/>
              <a:t> MATLAB can process eye images, train AI models, and detect Diabetic Retinopathy.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Easy-to-Use UI:</a:t>
            </a:r>
            <a:r>
              <a:rPr lang="en-IN" sz="1600" dirty="0"/>
              <a:t> Streamlit provides a simple interface for health workers to upload images and view results.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Smart AI Screening:</a:t>
            </a:r>
            <a:r>
              <a:rPr lang="en-IN" sz="1600" dirty="0"/>
              <a:t> AI checks the image and gives </a:t>
            </a:r>
            <a:r>
              <a:rPr lang="en-IN" sz="1600" b="1" dirty="0"/>
              <a:t>Normal, Doctor Review, or Urgent Referral</a:t>
            </a:r>
            <a:r>
              <a:rPr lang="en-IN" sz="1600" dirty="0"/>
              <a:t> results.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Works Offline:</a:t>
            </a:r>
            <a:r>
              <a:rPr lang="en-IN" sz="1600" dirty="0"/>
              <a:t> The AI can run on a laptop/tablet without continuous internet.</a:t>
            </a:r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82F7988B-4F7F-D546-D206-8C779B492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03" y="195261"/>
            <a:ext cx="415497" cy="36933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25C24FD-54DC-1478-0D1A-BA6C0C23DF02}"/>
              </a:ext>
            </a:extLst>
          </p:cNvPr>
          <p:cNvSpPr txBox="1"/>
          <p:nvPr/>
        </p:nvSpPr>
        <p:spPr>
          <a:xfrm>
            <a:off x="742950" y="176212"/>
            <a:ext cx="146270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E3A8A"/>
                </a:solidFill>
                <a:latin typeface="Plus Jakarta Sans"/>
              </a:rPr>
              <a:t>NetraSense</a:t>
            </a:r>
            <a:endParaRPr sz="1650" b="1" i="0" u="none" dirty="0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9CB80D-4089-4A0A-3692-790A41446B64}"/>
              </a:ext>
            </a:extLst>
          </p:cNvPr>
          <p:cNvSpPr/>
          <p:nvPr/>
        </p:nvSpPr>
        <p:spPr>
          <a:xfrm>
            <a:off x="4124565" y="1350855"/>
            <a:ext cx="3813600" cy="445155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erriweather" panose="00000500000000000000" pitchFamily="2" charset="0"/>
            </a:endParaRPr>
          </a:p>
          <a:p>
            <a:r>
              <a:rPr lang="en-I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erriweather" panose="00000500000000000000" pitchFamily="2" charset="0"/>
              </a:rPr>
              <a:t>VIABILITY</a:t>
            </a:r>
          </a:p>
          <a:p>
            <a:endParaRPr lang="en-IN" sz="2000" b="1" dirty="0">
              <a:solidFill>
                <a:srgbClr val="FF0000"/>
              </a:solidFill>
              <a:latin typeface="Merriweather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High Need:</a:t>
            </a:r>
            <a:r>
              <a:rPr lang="en-IN" sz="1600" dirty="0"/>
              <a:t> Rural areas have limited access to eye specialists. Our system can help PHCs and local health centres perform basic eye screening.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Early Detection:</a:t>
            </a:r>
            <a:r>
              <a:rPr lang="en-IN" sz="1600" dirty="0"/>
              <a:t> Finds diabetic eye problems early, helping patients get treatment sooner.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Saves Doctor Time:</a:t>
            </a:r>
            <a:r>
              <a:rPr lang="en-IN" sz="1600" dirty="0"/>
              <a:t> AI handles normal cases, so doctors can focus on serious cases.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Continuous Improvement:</a:t>
            </a:r>
            <a:r>
              <a:rPr lang="en-IN" sz="1600" dirty="0"/>
              <a:t> Doctor feedback can be used to improve the AI model over time.</a:t>
            </a:r>
            <a:endParaRPr lang="en-IN" sz="1400" dirty="0">
              <a:solidFill>
                <a:srgbClr val="334155"/>
              </a:solidFill>
              <a:latin typeface="Plus Jakarta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5811D3-258D-E87A-06F0-C1FF445CA267}"/>
              </a:ext>
            </a:extLst>
          </p:cNvPr>
          <p:cNvSpPr/>
          <p:nvPr/>
        </p:nvSpPr>
        <p:spPr>
          <a:xfrm>
            <a:off x="8146197" y="1350854"/>
            <a:ext cx="3813600" cy="445155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FF0000"/>
                </a:solidFill>
                <a:latin typeface="Merriweather" panose="00000500000000000000" pitchFamily="2" charset="0"/>
              </a:rPr>
              <a:t>CHALLENGES &amp; MITIGATION</a:t>
            </a:r>
            <a:endParaRPr lang="en-IN" dirty="0">
              <a:solidFill>
                <a:srgbClr val="FF0000"/>
              </a:solidFill>
              <a:latin typeface="Merriweather" panose="00000500000000000000" pitchFamily="2" charset="0"/>
            </a:endParaRPr>
          </a:p>
          <a:p>
            <a:endParaRPr lang="en-IN" sz="1400" b="1" dirty="0">
              <a:solidFill>
                <a:srgbClr val="FF0000"/>
              </a:solidFill>
              <a:latin typeface="Merriweather" panose="000005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Poor Image Quality:</a:t>
            </a:r>
            <a:r>
              <a:rPr lang="en-IN" sz="1600" dirty="0"/>
              <a:t> Blurry or dark eye images can reduce AI accuracy.</a:t>
            </a:r>
            <a:br>
              <a:rPr lang="en-IN" sz="1600" dirty="0"/>
            </a:br>
            <a:r>
              <a:rPr lang="en-IN" sz="1600" b="1" dirty="0"/>
              <a:t>Solution:</a:t>
            </a:r>
            <a:r>
              <a:rPr lang="en-IN" sz="1600" dirty="0"/>
              <a:t> AI checks image quality first and tells the operator to retake the image if needed.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Lack of Trust in AI:</a:t>
            </a:r>
            <a:r>
              <a:rPr lang="en-IN" sz="1600" dirty="0"/>
              <a:t> Doctors may not trust an AI result without evidence.</a:t>
            </a:r>
            <a:br>
              <a:rPr lang="en-IN" sz="1600" dirty="0"/>
            </a:br>
            <a:r>
              <a:rPr lang="en-IN" sz="1600" b="1" dirty="0"/>
              <a:t>Solution:</a:t>
            </a:r>
            <a:r>
              <a:rPr lang="en-IN" sz="1600" dirty="0"/>
              <a:t> AI shows the affected retinal areas and confidence level. Uncertain cases are sent to a doctor for review.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Wrong AI Prediction:</a:t>
            </a:r>
            <a:r>
              <a:rPr lang="en-IN" sz="1600" dirty="0"/>
              <a:t> AI may sometimes make mistakes.</a:t>
            </a:r>
            <a:br>
              <a:rPr lang="en-IN" sz="1600" dirty="0"/>
            </a:br>
            <a:r>
              <a:rPr lang="en-IN" sz="1600" b="1" dirty="0"/>
              <a:t>Solution:</a:t>
            </a:r>
            <a:r>
              <a:rPr lang="en-IN" sz="1600" dirty="0"/>
              <a:t> Serious or uncertain cases are </a:t>
            </a:r>
            <a:r>
              <a:rPr lang="en-IN" sz="1600" b="1" dirty="0"/>
              <a:t>never automatically cleared</a:t>
            </a:r>
            <a:r>
              <a:rPr lang="en-IN" sz="1600" dirty="0"/>
              <a:t> and are reviewed by a doctor.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DC57A1-29C0-2EF2-2E78-39728C89ABAE}"/>
              </a:ext>
            </a:extLst>
          </p:cNvPr>
          <p:cNvSpPr/>
          <p:nvPr/>
        </p:nvSpPr>
        <p:spPr>
          <a:xfrm>
            <a:off x="329771" y="1247469"/>
            <a:ext cx="6471077" cy="9656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</a:rPr>
              <a:t>Improved Screening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AI-assisted retinal screening enables preliminary diabetic retinopathy assessment in areas with limited access to ophthalmologists, extending screening coverage to rural and underserved populations.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CB543D-9F4B-8CFE-0C69-1AA96864C51B}"/>
              </a:ext>
            </a:extLst>
          </p:cNvPr>
          <p:cNvSpPr/>
          <p:nvPr/>
        </p:nvSpPr>
        <p:spPr>
          <a:xfrm>
            <a:off x="329771" y="2313700"/>
            <a:ext cx="6471077" cy="10022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rgbClr val="FF0000"/>
                </a:solidFill>
              </a:rPr>
              <a:t>Earlier Detection &amp; Timely Referral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Automated DR grading with 3-tier triage helps identify abnormal and referable cases earlier, allowing high-risk patients to be prioritized for specialist evaluation before vision-threatening progression.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261E8D-C1D5-A638-3823-3E3BB62F867C}"/>
              </a:ext>
            </a:extLst>
          </p:cNvPr>
          <p:cNvSpPr/>
          <p:nvPr/>
        </p:nvSpPr>
        <p:spPr>
          <a:xfrm>
            <a:off x="329770" y="3421616"/>
            <a:ext cx="6471077" cy="11362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Reduced Clinical Workload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Quality-aware, self-validating AI screening filters unusable images, auto-clears confident-normal cases, provides DR severity predictions, and highlights relevant retinal regions, allowing ophthalmologists to focus their time on higher-risk and uncertain cases.</a:t>
            </a: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5E4FA72E-35FF-D823-8124-3128620EEE8D}"/>
              </a:ext>
            </a:extLst>
          </p:cNvPr>
          <p:cNvSpPr/>
          <p:nvPr/>
        </p:nvSpPr>
        <p:spPr>
          <a:xfrm>
            <a:off x="339296" y="5158566"/>
            <a:ext cx="3740199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B0EC9746-E7E1-6650-A63F-A906603CCC2A}"/>
              </a:ext>
            </a:extLst>
          </p:cNvPr>
          <p:cNvSpPr/>
          <p:nvPr/>
        </p:nvSpPr>
        <p:spPr>
          <a:xfrm>
            <a:off x="4174745" y="5158566"/>
            <a:ext cx="3740199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9DB3547D-046E-6018-A4ED-9ED32A466539}"/>
              </a:ext>
            </a:extLst>
          </p:cNvPr>
          <p:cNvSpPr/>
          <p:nvPr/>
        </p:nvSpPr>
        <p:spPr>
          <a:xfrm>
            <a:off x="8010195" y="5158566"/>
            <a:ext cx="3740199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3CB619-F98D-CC57-91F0-E65E5DEAACC8}"/>
              </a:ext>
            </a:extLst>
          </p:cNvPr>
          <p:cNvSpPr/>
          <p:nvPr/>
        </p:nvSpPr>
        <p:spPr>
          <a:xfrm>
            <a:off x="339296" y="6082491"/>
            <a:ext cx="37401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5E7D54-4FA7-4EEE-E230-0699D2BC535E}"/>
              </a:ext>
            </a:extLst>
          </p:cNvPr>
          <p:cNvSpPr/>
          <p:nvPr/>
        </p:nvSpPr>
        <p:spPr>
          <a:xfrm>
            <a:off x="339296" y="5158566"/>
            <a:ext cx="3740199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8FA2E9-FC65-B3FD-826F-E2A762A04684}"/>
              </a:ext>
            </a:extLst>
          </p:cNvPr>
          <p:cNvSpPr/>
          <p:nvPr/>
        </p:nvSpPr>
        <p:spPr>
          <a:xfrm>
            <a:off x="339296" y="5158566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ADDAD5-0DA8-E6F5-0908-A0D6FEF69433}"/>
              </a:ext>
            </a:extLst>
          </p:cNvPr>
          <p:cNvSpPr/>
          <p:nvPr/>
        </p:nvSpPr>
        <p:spPr>
          <a:xfrm>
            <a:off x="4069970" y="5158566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2B5EB9-DD6D-1077-E848-7E0713329D7F}"/>
              </a:ext>
            </a:extLst>
          </p:cNvPr>
          <p:cNvSpPr/>
          <p:nvPr/>
        </p:nvSpPr>
        <p:spPr>
          <a:xfrm>
            <a:off x="4174745" y="6082491"/>
            <a:ext cx="37401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2EE0BB-7C21-F1C8-6F28-41A19FB958E0}"/>
              </a:ext>
            </a:extLst>
          </p:cNvPr>
          <p:cNvSpPr/>
          <p:nvPr/>
        </p:nvSpPr>
        <p:spPr>
          <a:xfrm>
            <a:off x="4174745" y="5158566"/>
            <a:ext cx="3740199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8290B2-26A5-C141-6B0A-E5337EBD5FE1}"/>
              </a:ext>
            </a:extLst>
          </p:cNvPr>
          <p:cNvSpPr/>
          <p:nvPr/>
        </p:nvSpPr>
        <p:spPr>
          <a:xfrm>
            <a:off x="4174745" y="5158566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843317-D305-736D-CF5F-5B580CFE8EF7}"/>
              </a:ext>
            </a:extLst>
          </p:cNvPr>
          <p:cNvSpPr/>
          <p:nvPr/>
        </p:nvSpPr>
        <p:spPr>
          <a:xfrm>
            <a:off x="7905420" y="5158566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E63F84-0F76-CBA3-F59A-ACA449C6DD89}"/>
              </a:ext>
            </a:extLst>
          </p:cNvPr>
          <p:cNvSpPr/>
          <p:nvPr/>
        </p:nvSpPr>
        <p:spPr>
          <a:xfrm>
            <a:off x="8010195" y="6082491"/>
            <a:ext cx="374019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201366-F2DC-A73C-0936-8E79CDB82779}"/>
              </a:ext>
            </a:extLst>
          </p:cNvPr>
          <p:cNvSpPr/>
          <p:nvPr/>
        </p:nvSpPr>
        <p:spPr>
          <a:xfrm>
            <a:off x="8010195" y="5158566"/>
            <a:ext cx="3740199" cy="285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D77BCDC-25A4-CF52-16D8-DB0D479BBBC6}"/>
              </a:ext>
            </a:extLst>
          </p:cNvPr>
          <p:cNvSpPr/>
          <p:nvPr/>
        </p:nvSpPr>
        <p:spPr>
          <a:xfrm>
            <a:off x="8010195" y="5158566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0DA2A9-EF08-2FAC-D8B2-071C8F8E03C4}"/>
              </a:ext>
            </a:extLst>
          </p:cNvPr>
          <p:cNvSpPr/>
          <p:nvPr/>
        </p:nvSpPr>
        <p:spPr>
          <a:xfrm>
            <a:off x="11740869" y="5158566"/>
            <a:ext cx="9525" cy="9334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CB7250-D274-AA0B-65D6-E6FEC9D2BCA4}"/>
              </a:ext>
            </a:extLst>
          </p:cNvPr>
          <p:cNvSpPr txBox="1"/>
          <p:nvPr/>
        </p:nvSpPr>
        <p:spPr>
          <a:xfrm>
            <a:off x="453596" y="5263341"/>
            <a:ext cx="136415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B45309"/>
                </a:solidFill>
                <a:latin typeface="Plus Jakarta Sans"/>
              </a:rPr>
              <a:t>MODE 1: IMAGE QUALITY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D6802F-75DC-4EDC-4D24-8C2F905644AE}"/>
              </a:ext>
            </a:extLst>
          </p:cNvPr>
          <p:cNvSpPr txBox="1"/>
          <p:nvPr/>
        </p:nvSpPr>
        <p:spPr>
          <a:xfrm>
            <a:off x="453596" y="5406216"/>
            <a:ext cx="94577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334155"/>
                </a:solidFill>
                <a:latin typeface="Plus Jakarta Sans"/>
              </a:rPr>
              <a:t>For:</a:t>
            </a:r>
            <a:r>
              <a:rPr sz="1000" b="0" i="0" u="none" dirty="0">
                <a:solidFill>
                  <a:srgbClr val="334155"/>
                </a:solidFill>
                <a:latin typeface="Plus Jakarta Sans"/>
              </a:rPr>
              <a:t> Retinal image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BA35B7-4534-F003-BD5D-D383F0768801}"/>
              </a:ext>
            </a:extLst>
          </p:cNvPr>
          <p:cNvSpPr txBox="1"/>
          <p:nvPr/>
        </p:nvSpPr>
        <p:spPr>
          <a:xfrm>
            <a:off x="453596" y="5530041"/>
            <a:ext cx="360684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Plus Jakarta Sans"/>
              </a:rPr>
              <a:t>Process:</a:t>
            </a:r>
            <a:r>
              <a:rPr sz="1000" b="0" i="0" u="none">
                <a:solidFill>
                  <a:srgbClr val="334155"/>
                </a:solidFill>
                <a:latin typeface="Plus Jakarta Sans"/>
              </a:rPr>
              <a:t> Image Input → Quality Check → Enhancement / Recapture Guidance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4A450C-02C5-8C69-53D8-08B8A146ED6C}"/>
              </a:ext>
            </a:extLst>
          </p:cNvPr>
          <p:cNvSpPr txBox="1"/>
          <p:nvPr/>
        </p:nvSpPr>
        <p:spPr>
          <a:xfrm>
            <a:off x="453596" y="5768166"/>
            <a:ext cx="1146148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Plus Jakarta Sans"/>
              </a:rPr>
              <a:t>Output:</a:t>
            </a:r>
            <a:r>
              <a:rPr sz="1000" b="0" i="0" u="none">
                <a:solidFill>
                  <a:srgbClr val="334155"/>
                </a:solidFill>
                <a:latin typeface="Plus Jakarta Sans"/>
              </a:rPr>
              <a:t> Usable image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A14468-8DFA-9BC1-7783-E116261374FD}"/>
              </a:ext>
            </a:extLst>
          </p:cNvPr>
          <p:cNvSpPr txBox="1"/>
          <p:nvPr/>
        </p:nvSpPr>
        <p:spPr>
          <a:xfrm>
            <a:off x="453596" y="5891991"/>
            <a:ext cx="227145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B45309"/>
                </a:solidFill>
                <a:latin typeface="Plus Jakarta Sans"/>
              </a:rPr>
              <a:t>Best For: Preventing unreliable predictions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872949-DC0C-F113-B38B-9131425D87F0}"/>
              </a:ext>
            </a:extLst>
          </p:cNvPr>
          <p:cNvSpPr txBox="1"/>
          <p:nvPr/>
        </p:nvSpPr>
        <p:spPr>
          <a:xfrm>
            <a:off x="4289045" y="5263341"/>
            <a:ext cx="125034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1E3A8A"/>
                </a:solidFill>
                <a:latin typeface="Plus Jakarta Sans"/>
              </a:rPr>
              <a:t>MODE 2: AI SCREENING</a:t>
            </a:r>
          </a:p>
        </p:txBody>
      </p:sp>
      <p:sp>
        <p:nvSpPr>
          <p:cNvPr id="17408" name="TextBox 17407">
            <a:extLst>
              <a:ext uri="{FF2B5EF4-FFF2-40B4-BE49-F238E27FC236}">
                <a16:creationId xmlns:a16="http://schemas.microsoft.com/office/drawing/2014/main" id="{DDFA11ED-F689-177E-8602-06D4CF97664C}"/>
              </a:ext>
            </a:extLst>
          </p:cNvPr>
          <p:cNvSpPr txBox="1"/>
          <p:nvPr/>
        </p:nvSpPr>
        <p:spPr>
          <a:xfrm>
            <a:off x="4289045" y="5406216"/>
            <a:ext cx="1258358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Plus Jakarta Sans"/>
              </a:rPr>
              <a:t>For:</a:t>
            </a:r>
            <a:r>
              <a:rPr sz="1000" b="0" i="0" u="none">
                <a:solidFill>
                  <a:srgbClr val="334155"/>
                </a:solidFill>
                <a:latin typeface="Plus Jakarta Sans"/>
              </a:rPr>
              <a:t> Good-quality image</a:t>
            </a: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A869D576-66A6-06E9-FBB4-0E7EB0AB6AE2}"/>
              </a:ext>
            </a:extLst>
          </p:cNvPr>
          <p:cNvSpPr txBox="1"/>
          <p:nvPr/>
        </p:nvSpPr>
        <p:spPr>
          <a:xfrm>
            <a:off x="4289045" y="5530041"/>
            <a:ext cx="3533018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Plus Jakarta Sans"/>
              </a:rPr>
              <a:t>Process:</a:t>
            </a:r>
            <a:r>
              <a:rPr sz="1000" b="0" i="0" u="none">
                <a:solidFill>
                  <a:srgbClr val="334155"/>
                </a:solidFill>
                <a:latin typeface="Plus Jakarta Sans"/>
              </a:rPr>
              <a:t> Preprocessing → Segmentation → CNN → DR Classification</a:t>
            </a:r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0AA73E3A-88D7-1171-8F00-87C557C5615D}"/>
              </a:ext>
            </a:extLst>
          </p:cNvPr>
          <p:cNvSpPr txBox="1"/>
          <p:nvPr/>
        </p:nvSpPr>
        <p:spPr>
          <a:xfrm>
            <a:off x="4289045" y="5653866"/>
            <a:ext cx="223779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Plus Jakarta Sans"/>
              </a:rPr>
              <a:t>Output:</a:t>
            </a:r>
            <a:r>
              <a:rPr sz="1000" b="0" i="0" u="none">
                <a:solidFill>
                  <a:srgbClr val="334155"/>
                </a:solidFill>
                <a:latin typeface="Plus Jakarta Sans"/>
              </a:rPr>
              <a:t> Grade 0-4 + Calibrated Confidence</a:t>
            </a: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E9FF311E-4FC0-5596-91DC-FFC49BBF0867}"/>
              </a:ext>
            </a:extLst>
          </p:cNvPr>
          <p:cNvSpPr txBox="1"/>
          <p:nvPr/>
        </p:nvSpPr>
        <p:spPr>
          <a:xfrm>
            <a:off x="4289045" y="5777691"/>
            <a:ext cx="2378856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1E3A8A"/>
                </a:solidFill>
                <a:latin typeface="Plus Jakarta Sans"/>
              </a:rPr>
              <a:t>Best For: Automated DR severity assessment</a:t>
            </a:r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FB89ACEA-A86B-1572-9EF3-6F332901DFA1}"/>
              </a:ext>
            </a:extLst>
          </p:cNvPr>
          <p:cNvSpPr txBox="1"/>
          <p:nvPr/>
        </p:nvSpPr>
        <p:spPr>
          <a:xfrm>
            <a:off x="8124495" y="5263341"/>
            <a:ext cx="1779333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DC2626"/>
                </a:solidFill>
                <a:latin typeface="Plus Jakarta Sans"/>
              </a:rPr>
              <a:t>MODE 3: EXPLAINABLE REFERRAL</a:t>
            </a:r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E35923D2-4E31-0DDF-B48C-1583ADCF15C1}"/>
              </a:ext>
            </a:extLst>
          </p:cNvPr>
          <p:cNvSpPr txBox="1"/>
          <p:nvPr/>
        </p:nvSpPr>
        <p:spPr>
          <a:xfrm>
            <a:off x="8124495" y="5406216"/>
            <a:ext cx="2215350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>
                <a:solidFill>
                  <a:srgbClr val="334155"/>
                </a:solidFill>
                <a:latin typeface="Plus Jakarta Sans"/>
              </a:rPr>
              <a:t>For:</a:t>
            </a:r>
            <a:r>
              <a:rPr sz="1000" b="0" i="0" u="none">
                <a:solidFill>
                  <a:srgbClr val="334155"/>
                </a:solidFill>
                <a:latin typeface="Plus Jakarta Sans"/>
              </a:rPr>
              <a:t> Abnormal / high-risk / uncertain cases</a:t>
            </a:r>
          </a:p>
        </p:txBody>
      </p:sp>
      <p:sp>
        <p:nvSpPr>
          <p:cNvPr id="17422" name="TextBox 17421">
            <a:extLst>
              <a:ext uri="{FF2B5EF4-FFF2-40B4-BE49-F238E27FC236}">
                <a16:creationId xmlns:a16="http://schemas.microsoft.com/office/drawing/2014/main" id="{BAED57DB-9DF9-7AFC-B4C4-DF20A3CCA05C}"/>
              </a:ext>
            </a:extLst>
          </p:cNvPr>
          <p:cNvSpPr txBox="1"/>
          <p:nvPr/>
        </p:nvSpPr>
        <p:spPr>
          <a:xfrm>
            <a:off x="8124495" y="5530041"/>
            <a:ext cx="361637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334155"/>
                </a:solidFill>
                <a:latin typeface="Plus Jakarta Sans"/>
              </a:rPr>
              <a:t>Process:</a:t>
            </a:r>
            <a:r>
              <a:rPr sz="1000" b="0" i="0" u="none" dirty="0">
                <a:solidFill>
                  <a:srgbClr val="334155"/>
                </a:solidFill>
                <a:latin typeface="Plus Jakarta Sans"/>
              </a:rPr>
              <a:t> Prediction → Grad-CAM → Self-Validation → 3-Tier Triage →</a:t>
            </a:r>
            <a:endParaRPr lang="en-IN" sz="1000" b="0" i="0" u="none" dirty="0">
              <a:solidFill>
                <a:srgbClr val="334155"/>
              </a:solidFill>
              <a:latin typeface="Plus Jakarta Sans"/>
            </a:endParaRPr>
          </a:p>
          <a:p>
            <a:pPr algn="l"/>
            <a:r>
              <a:rPr sz="1000" b="0" i="0" u="none" dirty="0">
                <a:solidFill>
                  <a:srgbClr val="334155"/>
                </a:solidFill>
                <a:latin typeface="Plus Jakarta Sans"/>
              </a:rPr>
              <a:t> Referral</a:t>
            </a:r>
          </a:p>
        </p:txBody>
      </p:sp>
      <p:sp>
        <p:nvSpPr>
          <p:cNvPr id="17424" name="TextBox 17423">
            <a:extLst>
              <a:ext uri="{FF2B5EF4-FFF2-40B4-BE49-F238E27FC236}">
                <a16:creationId xmlns:a16="http://schemas.microsoft.com/office/drawing/2014/main" id="{2933AD87-F912-C5C5-0A5E-CD05CB53F8E0}"/>
              </a:ext>
            </a:extLst>
          </p:cNvPr>
          <p:cNvSpPr txBox="1"/>
          <p:nvPr/>
        </p:nvSpPr>
        <p:spPr>
          <a:xfrm>
            <a:off x="8140370" y="5786980"/>
            <a:ext cx="3002425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334155"/>
                </a:solidFill>
                <a:latin typeface="Plus Jakarta Sans"/>
              </a:rPr>
              <a:t>Output:</a:t>
            </a:r>
            <a:r>
              <a:rPr sz="1000" b="0" i="0" u="none" dirty="0">
                <a:solidFill>
                  <a:srgbClr val="334155"/>
                </a:solidFill>
                <a:latin typeface="Plus Jakarta Sans"/>
              </a:rPr>
              <a:t> Explainable, self-checked result + referral priority</a:t>
            </a:r>
          </a:p>
        </p:txBody>
      </p: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08AB5BFE-904C-DDD2-719B-608650A965B7}"/>
              </a:ext>
            </a:extLst>
          </p:cNvPr>
          <p:cNvSpPr txBox="1"/>
          <p:nvPr/>
        </p:nvSpPr>
        <p:spPr>
          <a:xfrm>
            <a:off x="8124495" y="5917590"/>
            <a:ext cx="2531142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DC2626"/>
                </a:solidFill>
                <a:latin typeface="Plus Jakarta Sans"/>
              </a:rPr>
              <a:t>Best For: Specialist evaluation of high-risk cases</a:t>
            </a:r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F48C41E6-1A02-E8B0-CF5A-D524EDA72E20}"/>
              </a:ext>
            </a:extLst>
          </p:cNvPr>
          <p:cNvSpPr txBox="1"/>
          <p:nvPr/>
        </p:nvSpPr>
        <p:spPr>
          <a:xfrm>
            <a:off x="195261" y="4836771"/>
            <a:ext cx="3180358" cy="276999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Merriweather"/>
              </a:rPr>
              <a:t>HOW </a:t>
            </a: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rriweather"/>
              </a:rPr>
              <a:t>N</a:t>
            </a:r>
            <a:r>
              <a:rPr lang="en-IN" b="1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Merriweather"/>
              </a:rPr>
              <a:t>etraSense</a:t>
            </a:r>
            <a:r>
              <a:rPr b="1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Merriweather"/>
              </a:rPr>
              <a:t> WORKS?</a:t>
            </a:r>
          </a:p>
        </p:txBody>
      </p:sp>
      <p:pic>
        <p:nvPicPr>
          <p:cNvPr id="17433" name="Picture 17432" descr="image.png">
            <a:extLst>
              <a:ext uri="{FF2B5EF4-FFF2-40B4-BE49-F238E27FC236}">
                <a16:creationId xmlns:a16="http://schemas.microsoft.com/office/drawing/2014/main" id="{E7F37024-7700-6812-5682-409C8D59B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03" y="195261"/>
            <a:ext cx="415497" cy="369331"/>
          </a:xfrm>
          <a:prstGeom prst="rect">
            <a:avLst/>
          </a:prstGeom>
        </p:spPr>
      </p:pic>
      <p:sp>
        <p:nvSpPr>
          <p:cNvPr id="17435" name="TextBox 17434">
            <a:extLst>
              <a:ext uri="{FF2B5EF4-FFF2-40B4-BE49-F238E27FC236}">
                <a16:creationId xmlns:a16="http://schemas.microsoft.com/office/drawing/2014/main" id="{22BFCF6D-A22E-CEB0-25B1-E66FEE1C7250}"/>
              </a:ext>
            </a:extLst>
          </p:cNvPr>
          <p:cNvSpPr txBox="1"/>
          <p:nvPr/>
        </p:nvSpPr>
        <p:spPr>
          <a:xfrm>
            <a:off x="742950" y="176212"/>
            <a:ext cx="146270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E3A8A"/>
                </a:solidFill>
                <a:latin typeface="Plus Jakarta Sans"/>
              </a:rPr>
              <a:t>NetraSense</a:t>
            </a:r>
            <a:endParaRPr sz="1650" b="1" i="0" u="none" dirty="0">
              <a:solidFill>
                <a:srgbClr val="1E3A8A"/>
              </a:solidFill>
              <a:latin typeface="Plus Jakarta Sans"/>
            </a:endParaRPr>
          </a:p>
        </p:txBody>
      </p:sp>
      <p:graphicFrame>
        <p:nvGraphicFramePr>
          <p:cNvPr id="17439" name="Table 17438">
            <a:extLst>
              <a:ext uri="{FF2B5EF4-FFF2-40B4-BE49-F238E27FC236}">
                <a16:creationId xmlns:a16="http://schemas.microsoft.com/office/drawing/2014/main" id="{C6D40811-F398-F868-617C-692ABEBFB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146323"/>
              </p:ext>
            </p:extLst>
          </p:nvPr>
        </p:nvGraphicFramePr>
        <p:xfrm>
          <a:off x="7115175" y="1569890"/>
          <a:ext cx="4924424" cy="317626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7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752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475569"/>
                          </a:solidFill>
                        </a:rPr>
                        <a:t>Feature</a:t>
                      </a:r>
                      <a:endParaRPr sz="1200" b="1" i="0" u="none" dirty="0">
                        <a:solidFill>
                          <a:srgbClr val="47556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64748B"/>
                          </a:solidFill>
                        </a:rPr>
                        <a:t>Conventional Screening</a:t>
                      </a:r>
                      <a:endParaRPr sz="1200" b="1" i="0" u="none">
                        <a:solidFill>
                          <a:srgbClr val="64748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1E3A8A"/>
                          </a:solidFill>
                        </a:rPr>
                        <a:t>netraSense</a:t>
                      </a:r>
                      <a:endParaRPr sz="1200" b="1" i="0" u="none">
                        <a:solidFill>
                          <a:srgbClr val="1E3A8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752"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1E293B"/>
                          </a:solidFill>
                        </a:rPr>
                        <a:t>Automated Image Quality Check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DC2626"/>
                          </a:solidFill>
                        </a:rPr>
                        <a:t>❌</a:t>
                      </a:r>
                      <a:endParaRPr sz="1200" b="1" i="0" u="none">
                        <a:solidFill>
                          <a:srgbClr val="DC2626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 dirty="0">
                          <a:solidFill>
                            <a:srgbClr val="16A34A"/>
                          </a:solidFill>
                        </a:rPr>
                        <a:t>✅</a:t>
                      </a:r>
                      <a:r>
                        <a:rPr lang="en-IN" sz="1200" b="1" u="none" dirty="0">
                          <a:solidFill>
                            <a:srgbClr val="16A34A"/>
                          </a:solidFill>
                        </a:rPr>
                        <a:t> Real-time</a:t>
                      </a:r>
                      <a:endParaRPr sz="1200" b="1" i="0" u="none" dirty="0">
                        <a:solidFill>
                          <a:srgbClr val="16A34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752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1E293B"/>
                          </a:solidFill>
                        </a:rPr>
                        <a:t>AI-Based DR Grading</a:t>
                      </a:r>
                      <a:endParaRPr sz="1200" b="0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DC2626"/>
                          </a:solidFill>
                        </a:rPr>
                        <a:t>❌</a:t>
                      </a:r>
                      <a:endParaRPr sz="1200" b="1" i="0" u="none">
                        <a:solidFill>
                          <a:srgbClr val="DC2626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 dirty="0">
                          <a:solidFill>
                            <a:srgbClr val="16A34A"/>
                          </a:solidFill>
                        </a:rPr>
                        <a:t>✅ On-Device</a:t>
                      </a:r>
                      <a:endParaRPr sz="1200" b="1" i="0" u="none" dirty="0">
                        <a:solidFill>
                          <a:srgbClr val="16A34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752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1E293B"/>
                          </a:solidFill>
                        </a:rPr>
                        <a:t>5-Level Severity Classification</a:t>
                      </a:r>
                      <a:endParaRPr sz="1200" b="0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DC2626"/>
                          </a:solidFill>
                        </a:rPr>
                        <a:t>❌</a:t>
                      </a:r>
                      <a:endParaRPr sz="1200" b="1" i="0" u="none">
                        <a:solidFill>
                          <a:srgbClr val="DC2626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 dirty="0">
                          <a:solidFill>
                            <a:srgbClr val="16A34A"/>
                          </a:solidFill>
                        </a:rPr>
                        <a:t>✅ ETDRS Scale</a:t>
                      </a:r>
                      <a:endParaRPr sz="1200" b="1" i="0" u="none" dirty="0">
                        <a:solidFill>
                          <a:srgbClr val="16A34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752"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1E293B"/>
                          </a:solidFill>
                        </a:rPr>
                        <a:t>Grad-CAM Explainability (Self-Validated)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DC2626"/>
                          </a:solidFill>
                        </a:rPr>
                        <a:t>❌</a:t>
                      </a:r>
                      <a:endParaRPr sz="1200" b="1" i="0" u="none">
                        <a:solidFill>
                          <a:srgbClr val="DC2626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16A34A"/>
                          </a:solidFill>
                        </a:rPr>
                        <a:t>✅ Self-Checked</a:t>
                      </a:r>
                      <a:endParaRPr sz="1200" b="1" i="0" u="none">
                        <a:solidFill>
                          <a:srgbClr val="16A34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752"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1E293B"/>
                          </a:solidFill>
                        </a:rPr>
                        <a:t>Confidence / Risk Assessment</a:t>
                      </a:r>
                      <a:endParaRPr sz="1200" b="0" i="0" u="none" dirty="0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DC2626"/>
                          </a:solidFill>
                        </a:rPr>
                        <a:t>❌</a:t>
                      </a:r>
                      <a:endParaRPr sz="1200" b="1" i="0" u="none">
                        <a:solidFill>
                          <a:srgbClr val="DC2626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16A34A"/>
                          </a:solidFill>
                        </a:rPr>
                        <a:t>✅ Calibrated</a:t>
                      </a:r>
                      <a:endParaRPr sz="1200" b="1" i="0" u="none">
                        <a:solidFill>
                          <a:srgbClr val="16A34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752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1E293B"/>
                          </a:solidFill>
                        </a:rPr>
                        <a:t>3-Tier Prioritized Referral</a:t>
                      </a:r>
                      <a:endParaRPr sz="1200" b="0" i="0" u="none">
                        <a:solidFill>
                          <a:srgbClr val="1E293B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DC2626"/>
                          </a:solidFill>
                        </a:rPr>
                        <a:t>❌</a:t>
                      </a:r>
                      <a:endParaRPr sz="1200" b="1" i="0" u="none">
                        <a:solidFill>
                          <a:srgbClr val="DC2626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 dirty="0">
                          <a:solidFill>
                            <a:srgbClr val="16A34A"/>
                          </a:solidFill>
                        </a:rPr>
                        <a:t>✅ Automated</a:t>
                      </a:r>
                      <a:endParaRPr sz="1200" b="1" i="0" u="none" dirty="0">
                        <a:solidFill>
                          <a:srgbClr val="16A34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41" name="TextBox 17440">
            <a:extLst>
              <a:ext uri="{FF2B5EF4-FFF2-40B4-BE49-F238E27FC236}">
                <a16:creationId xmlns:a16="http://schemas.microsoft.com/office/drawing/2014/main" id="{205EBAEB-CFB5-08BE-4F0A-E3EB14E6F861}"/>
              </a:ext>
            </a:extLst>
          </p:cNvPr>
          <p:cNvSpPr txBox="1"/>
          <p:nvPr/>
        </p:nvSpPr>
        <p:spPr>
          <a:xfrm>
            <a:off x="7286626" y="1247469"/>
            <a:ext cx="474330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Merriweather"/>
              </a:rPr>
              <a:t>Diagnostic Screening Capability Benchmark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619" name="Picture 17618" descr="image.png">
            <a:extLst>
              <a:ext uri="{FF2B5EF4-FFF2-40B4-BE49-F238E27FC236}">
                <a16:creationId xmlns:a16="http://schemas.microsoft.com/office/drawing/2014/main" id="{135D2286-1731-87BF-9CBA-41AE7FC13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03" y="195261"/>
            <a:ext cx="415497" cy="369331"/>
          </a:xfrm>
          <a:prstGeom prst="rect">
            <a:avLst/>
          </a:prstGeom>
        </p:spPr>
      </p:pic>
      <p:sp>
        <p:nvSpPr>
          <p:cNvPr id="17621" name="TextBox 17620">
            <a:extLst>
              <a:ext uri="{FF2B5EF4-FFF2-40B4-BE49-F238E27FC236}">
                <a16:creationId xmlns:a16="http://schemas.microsoft.com/office/drawing/2014/main" id="{D1780E56-C050-8B4E-869E-AD797DA6F44F}"/>
              </a:ext>
            </a:extLst>
          </p:cNvPr>
          <p:cNvSpPr txBox="1"/>
          <p:nvPr/>
        </p:nvSpPr>
        <p:spPr>
          <a:xfrm>
            <a:off x="742950" y="176212"/>
            <a:ext cx="146270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1E3A8A"/>
                </a:solidFill>
                <a:latin typeface="Plus Jakarta Sans"/>
              </a:rPr>
              <a:t>NetraSense</a:t>
            </a:r>
            <a:endParaRPr sz="1650" b="1" i="0" u="none" dirty="0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17625" name="Rectangle 17624">
            <a:extLst>
              <a:ext uri="{FF2B5EF4-FFF2-40B4-BE49-F238E27FC236}">
                <a16:creationId xmlns:a16="http://schemas.microsoft.com/office/drawing/2014/main" id="{61031585-0F29-663E-0ADD-A92E3BF047E0}"/>
              </a:ext>
            </a:extLst>
          </p:cNvPr>
          <p:cNvSpPr/>
          <p:nvPr/>
        </p:nvSpPr>
        <p:spPr>
          <a:xfrm>
            <a:off x="585020" y="1533525"/>
            <a:ext cx="5425256" cy="1143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1"/>
                </a:solidFill>
              </a:rPr>
              <a:t>1. MESSIDOR-2</a:t>
            </a:r>
            <a:endParaRPr lang="en-IN" sz="16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Standardized retinal image database for diabetic retinopathy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https://www.adcis.net/en/third-party/messidor2/</a:t>
            </a:r>
            <a:endParaRPr lang="en-IN" sz="1400" dirty="0"/>
          </a:p>
        </p:txBody>
      </p:sp>
      <p:sp>
        <p:nvSpPr>
          <p:cNvPr id="17628" name="Rectangle 17627">
            <a:extLst>
              <a:ext uri="{FF2B5EF4-FFF2-40B4-BE49-F238E27FC236}">
                <a16:creationId xmlns:a16="http://schemas.microsoft.com/office/drawing/2014/main" id="{7C58ADF0-CAA8-9E62-612B-38C4352D06B8}"/>
              </a:ext>
            </a:extLst>
          </p:cNvPr>
          <p:cNvSpPr/>
          <p:nvPr/>
        </p:nvSpPr>
        <p:spPr>
          <a:xfrm>
            <a:off x="585020" y="2886868"/>
            <a:ext cx="5425256" cy="1143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3"/>
                </a:solidFill>
              </a:rPr>
              <a:t>3. DRIVE (VESSEL EXTRACTION)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Digital Retinal Images for Vessel Extraction, dataset for retinal vessel segmentation.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https://drive.grand-challenge.org/</a:t>
            </a:r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630" name="Rectangle 17629">
            <a:extLst>
              <a:ext uri="{FF2B5EF4-FFF2-40B4-BE49-F238E27FC236}">
                <a16:creationId xmlns:a16="http://schemas.microsoft.com/office/drawing/2014/main" id="{1138CD1D-1264-5B12-9530-296DA7C2D849}"/>
              </a:ext>
            </a:extLst>
          </p:cNvPr>
          <p:cNvSpPr/>
          <p:nvPr/>
        </p:nvSpPr>
        <p:spPr>
          <a:xfrm>
            <a:off x="6223819" y="1533525"/>
            <a:ext cx="5425256" cy="114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6"/>
                </a:solidFill>
              </a:rPr>
              <a:t>2. SIH 2026 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Official Smart India Hackathon 2026 problem statements portal.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https://sih.gov.in/sih2026PS</a:t>
            </a:r>
            <a:endParaRPr lang="en-IN" sz="1400" dirty="0"/>
          </a:p>
        </p:txBody>
      </p:sp>
      <p:sp>
        <p:nvSpPr>
          <p:cNvPr id="17632" name="Rectangle 17631">
            <a:extLst>
              <a:ext uri="{FF2B5EF4-FFF2-40B4-BE49-F238E27FC236}">
                <a16:creationId xmlns:a16="http://schemas.microsoft.com/office/drawing/2014/main" id="{9E3F8A53-9A29-5BC5-A243-270387DFB864}"/>
              </a:ext>
            </a:extLst>
          </p:cNvPr>
          <p:cNvSpPr/>
          <p:nvPr/>
        </p:nvSpPr>
        <p:spPr>
          <a:xfrm>
            <a:off x="567771" y="4267994"/>
            <a:ext cx="5425256" cy="1143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5. IDRiD (INDIAN DR DATASET)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Indian dataset for research and disease grading.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https://ieeedataport.org/open-access/indian-diabetic-retinopathy-image-dataset-idrid</a:t>
            </a:r>
            <a:endParaRPr lang="en-IN" sz="1400" dirty="0"/>
          </a:p>
        </p:txBody>
      </p:sp>
      <p:sp>
        <p:nvSpPr>
          <p:cNvPr id="17634" name="Rectangle 17633">
            <a:extLst>
              <a:ext uri="{FF2B5EF4-FFF2-40B4-BE49-F238E27FC236}">
                <a16:creationId xmlns:a16="http://schemas.microsoft.com/office/drawing/2014/main" id="{6320A071-E6D3-5F1C-F49D-72BB3D81517B}"/>
              </a:ext>
            </a:extLst>
          </p:cNvPr>
          <p:cNvSpPr/>
          <p:nvPr/>
        </p:nvSpPr>
        <p:spPr>
          <a:xfrm>
            <a:off x="6223819" y="2886868"/>
            <a:ext cx="5425256" cy="1143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2"/>
                </a:solidFill>
              </a:rPr>
              <a:t>4. APTOS 2019 BLINDNESS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Kaggle competition dataset for diabetic retinopathy severity grading.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https://www.kaggle.com/c/aptos2019-blindness-detection</a:t>
            </a:r>
            <a:endParaRPr lang="en-IN" sz="1400" dirty="0"/>
          </a:p>
        </p:txBody>
      </p:sp>
      <p:sp>
        <p:nvSpPr>
          <p:cNvPr id="17636" name="Rectangle 17635">
            <a:extLst>
              <a:ext uri="{FF2B5EF4-FFF2-40B4-BE49-F238E27FC236}">
                <a16:creationId xmlns:a16="http://schemas.microsoft.com/office/drawing/2014/main" id="{8FA5EE09-9E85-D5DB-4B66-2DE0DF8C336A}"/>
              </a:ext>
            </a:extLst>
          </p:cNvPr>
          <p:cNvSpPr/>
          <p:nvPr/>
        </p:nvSpPr>
        <p:spPr>
          <a:xfrm>
            <a:off x="6223819" y="4267993"/>
            <a:ext cx="5425256" cy="11430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6. GRAD-CAM (MATHWORKS DOCS)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Visual explanations for CNN decisions using Gradient-weighted Class Activation Mapping.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https://www.mathworks.com/help/deeplearning/ref/gradcam.html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7696</TotalTime>
  <Words>1250</Words>
  <Application>Microsoft Office PowerPoint</Application>
  <PresentationFormat>Widescreen</PresentationFormat>
  <Paragraphs>205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Aptos</vt:lpstr>
      <vt:lpstr>Arial</vt:lpstr>
      <vt:lpstr>Calibri</vt:lpstr>
      <vt:lpstr>Garamond</vt:lpstr>
      <vt:lpstr>Merriweather</vt:lpstr>
      <vt:lpstr>Plus Jakarta Sans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jeet patel</cp:lastModifiedBy>
  <cp:revision>188</cp:revision>
  <dcterms:created xsi:type="dcterms:W3CDTF">2013-12-12T18:46:50Z</dcterms:created>
  <dcterms:modified xsi:type="dcterms:W3CDTF">2026-09-19T15:32:24Z</dcterms:modified>
  <cp:category/>
</cp:coreProperties>
</file>